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0B1B2B"/>
                </a:solidFill>
                <a:latin typeface="Cambria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13232"/>
            <a:ext cx="121916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A7186"/>
                </a:solidFill>
                <a:latin typeface="Calibri"/>
              </a:rPr>
              <a:t>DRISHTI — District Risk Intelligence and Satellite Hazard Tracking Interface  ·  SIH26191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074920" cy="5486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225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074920" cy="457200"/>
          </a:xfrm>
          <a:prstGeom prst="roundRect">
            <a:avLst>
              <a:gd name="adj" fmla="val 3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16736"/>
            <a:ext cx="47091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System Architecture &amp;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56232"/>
            <a:ext cx="4672583" cy="24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2E7DB5"/>
                </a:solidFill>
                <a:latin typeface="Calibri"/>
              </a:rPr>
              <a:t>FRONTEND — vanilla JS + Leaflet, no build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1829"/>
            <a:ext cx="4672583" cy="21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Live board, click-to-justify red zones, district &amp; national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82316"/>
            <a:ext cx="4672583" cy="21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One state object drives every screen; no framework, no bundler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3387"/>
            <a:ext cx="4672583" cy="24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E07B39"/>
                </a:solidFill>
                <a:latin typeface="Calibri"/>
              </a:rPr>
              <a:t>BACKEND — FastAPI + NumPy physics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08985"/>
            <a:ext cx="4672583" cy="21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Terrain hydrology: D8 flow routing, HAND, slope, wetness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9472"/>
            <a:ext cx="4672583" cy="398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Hazard models: BIS IS 14496 (landslide), SCS-CN→Manning (flood), IMD threshold (cloudburst), Bruun (erosion)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76167"/>
            <a:ext cx="4672583" cy="24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2E8B57"/>
                </a:solidFill>
                <a:latin typeface="Calibri"/>
              </a:rPr>
              <a:t>DATA LAYER — zero API keys, anywhere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61764"/>
            <a:ext cx="4672583" cy="398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Baked real: Copernicus DEM · GHS-POP · GHSL · WorldCover · OpenStreetMap · geoBoundaries · IBTrACS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87875"/>
            <a:ext cx="4672583" cy="21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•  Live feeds: Open-Meteo — rainfall, CAPE, soil moisture, cloud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28946"/>
            <a:ext cx="4672583" cy="24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C4362C"/>
                </a:solidFill>
                <a:latin typeface="Calibri"/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14544"/>
            <a:ext cx="4672583" cy="398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Terrain + satellite data → per-cell hazard physics → Red Zone recurrence index → relocation site allocation + live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41238"/>
            <a:ext cx="4672583" cy="249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6A3FA0"/>
                </a:solidFill>
                <a:latin typeface="Calibri"/>
              </a:rPr>
              <a:t>LIVE / RESPONSE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26836"/>
            <a:ext cx="4672583" cy="398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20364A"/>
                </a:solidFill>
                <a:latin typeface="Calibri"/>
              </a:rPr>
              <a:t>Live weather → cloud-pattern read (no ML) → urgency ranking → force-refresh proof → district drill-down → click-to-justify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234440"/>
            <a:ext cx="5928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0B5C8C"/>
                </a:solidFill>
                <a:latin typeface="Calibri"/>
              </a:rPr>
              <a:t>PROCESS FLOW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1618488"/>
            <a:ext cx="2781147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1E6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BAKED REAL DATA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DEM · Population · Built-up · Roads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1907" y="1618488"/>
            <a:ext cx="2781147" cy="457200"/>
          </a:xfrm>
          <a:prstGeom prst="roundRect">
            <a:avLst>
              <a:gd name="adj" fmla="val 12000"/>
            </a:avLst>
          </a:prstGeom>
          <a:solidFill>
            <a:srgbClr val="2E7DB5"/>
          </a:solidFill>
          <a:ln w="12700">
            <a:solidFill>
              <a:srgbClr val="1E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LIVE FEEDS (Open-Meteo)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Rainfall · CAPE · Soil · Cloud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88453" y="2075688"/>
            <a:ext cx="1161974" cy="228600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090507" y="2075688"/>
            <a:ext cx="1161974" cy="228600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97879" y="2331720"/>
            <a:ext cx="5745175" cy="365760"/>
          </a:xfrm>
          <a:prstGeom prst="roundRect">
            <a:avLst>
              <a:gd name="adj" fmla="val 12000"/>
            </a:avLst>
          </a:prstGeom>
          <a:solidFill>
            <a:srgbClr val="24485F"/>
          </a:solidFill>
          <a:ln w="12700">
            <a:solidFill>
              <a:srgbClr val="0B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TERRAIN ENGINE  —  core/terrain.py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D8 flow routing · HAND · slope · topographic wetness index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0467" y="2697479"/>
            <a:ext cx="0" cy="219456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97879" y="2953511"/>
            <a:ext cx="5745175" cy="43434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 w="12700">
            <a:solidFill>
              <a:srgbClr val="9A4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HAZARD PHYSICS  —  five modules, one recurrence scale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Flood · Landslide (BIS LHEF) · Cloudburst (IMD) · Erosion · Waterlogging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0467" y="3387851"/>
            <a:ext cx="0" cy="219456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97879" y="3643883"/>
            <a:ext cx="5745175" cy="365760"/>
          </a:xfrm>
          <a:prstGeom prst="roundRect">
            <a:avLst>
              <a:gd name="adj" fmla="val 12000"/>
            </a:avLst>
          </a:prstGeom>
          <a:solidFill>
            <a:srgbClr val="C4362C"/>
          </a:solidFill>
          <a:ln w="12700">
            <a:solidFill>
              <a:srgbClr val="7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FFFFFF"/>
                </a:solidFill>
                <a:latin typeface="Calibri"/>
              </a:rPr>
              <a:t>RED ZONE ENGINE  —  core/redzone.py</a:t>
            </a:r>
          </a:p>
          <a:p>
            <a:pPr algn="ctr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Shortest return period (5 / 25 / 100-yr) at which a cell turns uninhabitable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794449" y="4009644"/>
            <a:ext cx="1976018" cy="228600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70467" y="4009644"/>
            <a:ext cx="0" cy="228600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0467" y="4009644"/>
            <a:ext cx="1976018" cy="228600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897879" y="4265676"/>
            <a:ext cx="1793138" cy="457200"/>
          </a:xfrm>
          <a:prstGeom prst="roundRect">
            <a:avLst>
              <a:gd name="adj" fmla="val 12000"/>
            </a:avLst>
          </a:prstGeom>
          <a:solidFill>
            <a:srgbClr val="6A3FA0"/>
          </a:solidFill>
          <a:ln w="12700">
            <a:solidFill>
              <a:srgbClr val="3E22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RELOCATION ENGINE</a:t>
            </a:r>
          </a:p>
          <a:p>
            <a:pPr algn="ctr">
              <a:lnSpc>
                <a:spcPct val="105000"/>
              </a:lnSpc>
            </a:pPr>
            <a:r>
              <a:rPr sz="750" b="0">
                <a:solidFill>
                  <a:srgbClr val="FFFFFF"/>
                </a:solidFill>
                <a:latin typeface="Calibri"/>
              </a:rPr>
              <a:t>Siting + capacity math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3898" y="4265676"/>
            <a:ext cx="1793138" cy="457200"/>
          </a:xfrm>
          <a:prstGeom prst="roundRect">
            <a:avLst>
              <a:gd name="adj" fmla="val 12000"/>
            </a:avLst>
          </a:prstGeom>
          <a:solidFill>
            <a:srgbClr val="2E7DB5"/>
          </a:solidFill>
          <a:ln w="12700">
            <a:solidFill>
              <a:srgbClr val="1E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LIVE WATCH BOARD</a:t>
            </a:r>
          </a:p>
          <a:p>
            <a:pPr algn="ctr">
              <a:lnSpc>
                <a:spcPct val="105000"/>
              </a:lnSpc>
            </a:pPr>
            <a:r>
              <a:rPr sz="750" b="0">
                <a:solidFill>
                  <a:srgbClr val="FFFFFF"/>
                </a:solidFill>
                <a:latin typeface="Calibri"/>
              </a:rPr>
              <a:t>Urgency ranking,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9916" y="4265676"/>
            <a:ext cx="1793138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1E6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CLICK-TO-JUSTIFY</a:t>
            </a:r>
          </a:p>
          <a:p>
            <a:pPr algn="ctr">
              <a:lnSpc>
                <a:spcPct val="105000"/>
              </a:lnSpc>
            </a:pPr>
            <a:r>
              <a:rPr sz="750" b="0">
                <a:solidFill>
                  <a:srgbClr val="FFFFFF"/>
                </a:solidFill>
                <a:latin typeface="Calibri"/>
              </a:rPr>
              <a:t>Per-cell explain API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94449" y="4722876"/>
            <a:ext cx="1976018" cy="219456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70467" y="4722876"/>
            <a:ext cx="0" cy="219456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770467" y="4722876"/>
            <a:ext cx="1976018" cy="219456"/>
          </a:xfrm>
          <a:prstGeom prst="line">
            <a:avLst/>
          </a:prstGeom>
          <a:ln w="22225">
            <a:solidFill>
              <a:srgbClr val="2448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897879" y="4978908"/>
            <a:ext cx="5745175" cy="388620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FRONTEND — Leaflet map + panels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Calibri"/>
              </a:rPr>
              <a:t>→ District Magistrate / SDMA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