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in the team ID and name before submitting. Everything else is fixed by the problem statement.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Rectangle 1"/>
          <p:cNvSpPr/>
          <p:nvPr/>
        </p:nvSpPr>
        <p:spPr>
          <a:xfrm>
            <a:off x="548640" y="548640"/>
            <a:ext cx="146304" cy="14630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48640"/>
            <a:ext cx="146304" cy="146304"/>
          </a:xfrm>
          <a:prstGeom prst="rect">
            <a:avLst/>
          </a:prstGeom>
          <a:solidFill>
            <a:srgbClr val="E3B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731520"/>
            <a:ext cx="146304" cy="146304"/>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731520"/>
            <a:ext cx="146304" cy="146304"/>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530352"/>
            <a:ext cx="6766560" cy="274320"/>
          </a:xfrm>
          <a:prstGeom prst="rect">
            <a:avLst/>
          </a:prstGeom>
          <a:noFill/>
        </p:spPr>
        <p:txBody>
          <a:bodyPr wrap="square" lIns="0" rIns="0" tIns="0" bIns="0" anchor="t">
            <a:spAutoFit/>
          </a:bodyPr>
          <a:lstStyle/>
          <a:p>
            <a:pPr algn="l">
              <a:lnSpc>
                <a:spcPct val="116000"/>
              </a:lnSpc>
              <a:spcAft>
                <a:spcPts val="0"/>
              </a:spcAft>
            </a:pPr>
            <a:r>
              <a:rPr sz="1250" b="1">
                <a:solidFill>
                  <a:srgbClr val="E07B39"/>
                </a:solidFill>
                <a:latin typeface="Calibri"/>
              </a:rPr>
              <a:t>SMART INDIA HACKATHON 2026</a:t>
            </a:r>
          </a:p>
        </p:txBody>
      </p:sp>
      <p:sp>
        <p:nvSpPr>
          <p:cNvPr id="7" name="TextBox 6"/>
          <p:cNvSpPr txBox="1"/>
          <p:nvPr/>
        </p:nvSpPr>
        <p:spPr>
          <a:xfrm>
            <a:off x="493776" y="1371600"/>
            <a:ext cx="7315200" cy="1280160"/>
          </a:xfrm>
          <a:prstGeom prst="rect">
            <a:avLst/>
          </a:prstGeom>
          <a:noFill/>
        </p:spPr>
        <p:txBody>
          <a:bodyPr wrap="square" lIns="0" rIns="0" tIns="0" bIns="0" anchor="t">
            <a:spAutoFit/>
          </a:bodyPr>
          <a:lstStyle/>
          <a:p>
            <a:pPr algn="l">
              <a:lnSpc>
                <a:spcPct val="116000"/>
              </a:lnSpc>
              <a:spcAft>
                <a:spcPts val="0"/>
              </a:spcAft>
            </a:pPr>
            <a:r>
              <a:rPr sz="7400" b="1">
                <a:solidFill>
                  <a:srgbClr val="FFFFFF"/>
                </a:solidFill>
                <a:latin typeface="Cambria"/>
              </a:rPr>
              <a:t>DRISHTI</a:t>
            </a:r>
          </a:p>
        </p:txBody>
      </p:sp>
      <p:sp>
        <p:nvSpPr>
          <p:cNvPr id="8" name="TextBox 7"/>
          <p:cNvSpPr txBox="1"/>
          <p:nvPr/>
        </p:nvSpPr>
        <p:spPr>
          <a:xfrm>
            <a:off x="548640" y="2487168"/>
            <a:ext cx="7040880" cy="457200"/>
          </a:xfrm>
          <a:prstGeom prst="rect">
            <a:avLst/>
          </a:prstGeom>
          <a:noFill/>
        </p:spPr>
        <p:txBody>
          <a:bodyPr wrap="square" lIns="0" rIns="0" tIns="0" bIns="0" anchor="t">
            <a:spAutoFit/>
          </a:bodyPr>
          <a:lstStyle/>
          <a:p>
            <a:pPr algn="l">
              <a:lnSpc>
                <a:spcPct val="116000"/>
              </a:lnSpc>
              <a:spcAft>
                <a:spcPts val="0"/>
              </a:spcAft>
            </a:pPr>
            <a:r>
              <a:rPr sz="1350" b="0">
                <a:solidFill>
                  <a:srgbClr val="9FB4C7"/>
                </a:solidFill>
                <a:latin typeface="Calibri"/>
              </a:rPr>
              <a:t>District Risk Intelligence &amp; Satellite Hazard Tracking Interface</a:t>
            </a:r>
          </a:p>
        </p:txBody>
      </p:sp>
      <p:sp>
        <p:nvSpPr>
          <p:cNvPr id="9" name="Rectangle 8"/>
          <p:cNvSpPr/>
          <p:nvPr/>
        </p:nvSpPr>
        <p:spPr>
          <a:xfrm>
            <a:off x="548640" y="3054096"/>
            <a:ext cx="1371600" cy="25603"/>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310128"/>
            <a:ext cx="6949440" cy="1051560"/>
          </a:xfrm>
          <a:prstGeom prst="rect">
            <a:avLst/>
          </a:prstGeom>
          <a:noFill/>
        </p:spPr>
        <p:txBody>
          <a:bodyPr wrap="square" lIns="0" rIns="0" tIns="0" bIns="0" anchor="t">
            <a:spAutoFit/>
          </a:bodyPr>
          <a:lstStyle/>
          <a:p>
            <a:pPr algn="l">
              <a:lnSpc>
                <a:spcPct val="116000"/>
              </a:lnSpc>
              <a:spcAft>
                <a:spcPts val="300"/>
              </a:spcAft>
            </a:pPr>
            <a:r>
              <a:rPr sz="2200" b="1">
                <a:solidFill>
                  <a:srgbClr val="FFFFFF"/>
                </a:solidFill>
                <a:latin typeface="Cambria"/>
              </a:rPr>
              <a:t>We keep rebuilding villages</a:t>
            </a:r>
          </a:p>
          <a:p>
            <a:pPr algn="l">
              <a:lnSpc>
                <a:spcPct val="116000"/>
              </a:lnSpc>
              <a:spcAft>
                <a:spcPts val="0"/>
              </a:spcAft>
            </a:pPr>
            <a:r>
              <a:rPr sz="2200" b="1">
                <a:solidFill>
                  <a:srgbClr val="E07B39"/>
                </a:solidFill>
                <a:latin typeface="Cambria"/>
              </a:rPr>
              <a:t>in the same death trap.</a:t>
            </a:r>
          </a:p>
        </p:txBody>
      </p:sp>
      <p:sp>
        <p:nvSpPr>
          <p:cNvPr id="11" name="TextBox 10"/>
          <p:cNvSpPr txBox="1"/>
          <p:nvPr/>
        </p:nvSpPr>
        <p:spPr>
          <a:xfrm>
            <a:off x="548640" y="4773168"/>
            <a:ext cx="7040880" cy="1005840"/>
          </a:xfrm>
          <a:prstGeom prst="rect">
            <a:avLst/>
          </a:prstGeom>
          <a:noFill/>
        </p:spPr>
        <p:txBody>
          <a:bodyPr wrap="square" lIns="0" rIns="0" tIns="0" bIns="0" anchor="t">
            <a:spAutoFit/>
          </a:bodyPr>
          <a:lstStyle/>
          <a:p>
            <a:pPr algn="l">
              <a:lnSpc>
                <a:spcPct val="116000"/>
              </a:lnSpc>
              <a:spcAft>
                <a:spcPts val="0"/>
              </a:spcAft>
            </a:pPr>
            <a:r>
              <a:rPr sz="1250" b="0">
                <a:solidFill>
                  <a:srgbClr val="9FB4C7"/>
                </a:solidFill>
                <a:latin typeface="Calibri"/>
              </a:rPr>
              <a:t>A GIS decision-support platform that identifies multi-hazard Red Zones unsuitable for permanent habitation, assesses the carrying capacity of safer sites, and ranks vulnerable habitations for relocation.</a:t>
            </a:r>
          </a:p>
        </p:txBody>
      </p:sp>
      <p:sp>
        <p:nvSpPr>
          <p:cNvPr id="12" name="Rectangle 11"/>
          <p:cNvSpPr/>
          <p:nvPr/>
        </p:nvSpPr>
        <p:spPr>
          <a:xfrm>
            <a:off x="7818120" y="1371600"/>
            <a:ext cx="3824935" cy="4480560"/>
          </a:xfrm>
          <a:prstGeom prst="rect">
            <a:avLst/>
          </a:prstGeom>
          <a:solidFill>
            <a:srgbClr val="17324A"/>
          </a:solidFill>
          <a:ln w="9525">
            <a:solidFill>
              <a:srgbClr val="2448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02168" y="1664208"/>
            <a:ext cx="3056839" cy="201168"/>
          </a:xfrm>
          <a:prstGeom prst="rect">
            <a:avLst/>
          </a:prstGeom>
          <a:noFill/>
        </p:spPr>
        <p:txBody>
          <a:bodyPr wrap="square" lIns="0" rIns="0" tIns="0" bIns="0" anchor="t">
            <a:spAutoFit/>
          </a:bodyPr>
          <a:lstStyle/>
          <a:p>
            <a:pPr algn="l">
              <a:lnSpc>
                <a:spcPct val="116000"/>
              </a:lnSpc>
              <a:spcAft>
                <a:spcPts val="0"/>
              </a:spcAft>
            </a:pPr>
            <a:r>
              <a:rPr sz="900" b="1">
                <a:solidFill>
                  <a:srgbClr val="E07B39"/>
                </a:solidFill>
                <a:latin typeface="Calibri"/>
              </a:rPr>
              <a:t>PROBLEM STATEMENT ID</a:t>
            </a:r>
          </a:p>
        </p:txBody>
      </p:sp>
      <p:sp>
        <p:nvSpPr>
          <p:cNvPr id="14" name="TextBox 13"/>
          <p:cNvSpPr txBox="1"/>
          <p:nvPr/>
        </p:nvSpPr>
        <p:spPr>
          <a:xfrm>
            <a:off x="8202168" y="1865376"/>
            <a:ext cx="3056839" cy="220979"/>
          </a:xfrm>
          <a:prstGeom prst="rect">
            <a:avLst/>
          </a:prstGeom>
          <a:noFill/>
        </p:spPr>
        <p:txBody>
          <a:bodyPr wrap="square" lIns="0" rIns="0" tIns="0" bIns="0" anchor="t">
            <a:spAutoFit/>
          </a:bodyPr>
          <a:lstStyle/>
          <a:p>
            <a:pPr algn="l">
              <a:lnSpc>
                <a:spcPct val="116000"/>
              </a:lnSpc>
              <a:spcAft>
                <a:spcPts val="0"/>
              </a:spcAft>
            </a:pPr>
            <a:r>
              <a:rPr sz="1250" b="1">
                <a:solidFill>
                  <a:srgbClr val="FFFFFF"/>
                </a:solidFill>
                <a:latin typeface="Calibri"/>
              </a:rPr>
              <a:t>SIH26191</a:t>
            </a:r>
          </a:p>
        </p:txBody>
      </p:sp>
      <p:sp>
        <p:nvSpPr>
          <p:cNvPr id="15" name="TextBox 14"/>
          <p:cNvSpPr txBox="1"/>
          <p:nvPr/>
        </p:nvSpPr>
        <p:spPr>
          <a:xfrm>
            <a:off x="8202168" y="2269236"/>
            <a:ext cx="3056839" cy="201168"/>
          </a:xfrm>
          <a:prstGeom prst="rect">
            <a:avLst/>
          </a:prstGeom>
          <a:noFill/>
        </p:spPr>
        <p:txBody>
          <a:bodyPr wrap="square" lIns="0" rIns="0" tIns="0" bIns="0" anchor="t">
            <a:spAutoFit/>
          </a:bodyPr>
          <a:lstStyle/>
          <a:p>
            <a:pPr algn="l">
              <a:lnSpc>
                <a:spcPct val="116000"/>
              </a:lnSpc>
              <a:spcAft>
                <a:spcPts val="0"/>
              </a:spcAft>
            </a:pPr>
            <a:r>
              <a:rPr sz="900" b="1">
                <a:solidFill>
                  <a:srgbClr val="E07B39"/>
                </a:solidFill>
                <a:latin typeface="Calibri"/>
              </a:rPr>
              <a:t>PROBLEM STATEMENT TITLE</a:t>
            </a:r>
          </a:p>
        </p:txBody>
      </p:sp>
      <p:sp>
        <p:nvSpPr>
          <p:cNvPr id="16" name="TextBox 15"/>
          <p:cNvSpPr txBox="1"/>
          <p:nvPr/>
        </p:nvSpPr>
        <p:spPr>
          <a:xfrm>
            <a:off x="8202168" y="2470404"/>
            <a:ext cx="3056839" cy="441959"/>
          </a:xfrm>
          <a:prstGeom prst="rect">
            <a:avLst/>
          </a:prstGeom>
          <a:noFill/>
        </p:spPr>
        <p:txBody>
          <a:bodyPr wrap="square" lIns="0" rIns="0" tIns="0" bIns="0" anchor="t">
            <a:spAutoFit/>
          </a:bodyPr>
          <a:lstStyle/>
          <a:p>
            <a:pPr algn="l">
              <a:lnSpc>
                <a:spcPct val="116000"/>
              </a:lnSpc>
              <a:spcAft>
                <a:spcPts val="0"/>
              </a:spcAft>
            </a:pPr>
            <a:r>
              <a:rPr sz="1250" b="1">
                <a:solidFill>
                  <a:srgbClr val="FFFFFF"/>
                </a:solidFill>
                <a:latin typeface="Calibri"/>
              </a:rPr>
              <a:t>Hazard-Based Red Zones, Carrying Capacity &amp; Relocation Needs</a:t>
            </a:r>
          </a:p>
        </p:txBody>
      </p:sp>
      <p:sp>
        <p:nvSpPr>
          <p:cNvPr id="17" name="TextBox 16"/>
          <p:cNvSpPr txBox="1"/>
          <p:nvPr/>
        </p:nvSpPr>
        <p:spPr>
          <a:xfrm>
            <a:off x="8202168" y="3095244"/>
            <a:ext cx="3056839" cy="201168"/>
          </a:xfrm>
          <a:prstGeom prst="rect">
            <a:avLst/>
          </a:prstGeom>
          <a:noFill/>
        </p:spPr>
        <p:txBody>
          <a:bodyPr wrap="square" lIns="0" rIns="0" tIns="0" bIns="0" anchor="t">
            <a:spAutoFit/>
          </a:bodyPr>
          <a:lstStyle/>
          <a:p>
            <a:pPr algn="l">
              <a:lnSpc>
                <a:spcPct val="116000"/>
              </a:lnSpc>
              <a:spcAft>
                <a:spcPts val="0"/>
              </a:spcAft>
            </a:pPr>
            <a:r>
              <a:rPr sz="900" b="1">
                <a:solidFill>
                  <a:srgbClr val="E07B39"/>
                </a:solidFill>
                <a:latin typeface="Calibri"/>
              </a:rPr>
              <a:t>ORGANISATION</a:t>
            </a:r>
          </a:p>
        </p:txBody>
      </p:sp>
      <p:sp>
        <p:nvSpPr>
          <p:cNvPr id="18" name="TextBox 17"/>
          <p:cNvSpPr txBox="1"/>
          <p:nvPr/>
        </p:nvSpPr>
        <p:spPr>
          <a:xfrm>
            <a:off x="8202168" y="3296412"/>
            <a:ext cx="3056839" cy="220979"/>
          </a:xfrm>
          <a:prstGeom prst="rect">
            <a:avLst/>
          </a:prstGeom>
          <a:noFill/>
        </p:spPr>
        <p:txBody>
          <a:bodyPr wrap="square" lIns="0" rIns="0" tIns="0" bIns="0" anchor="t">
            <a:spAutoFit/>
          </a:bodyPr>
          <a:lstStyle/>
          <a:p>
            <a:pPr algn="l">
              <a:lnSpc>
                <a:spcPct val="116000"/>
              </a:lnSpc>
              <a:spcAft>
                <a:spcPts val="0"/>
              </a:spcAft>
            </a:pPr>
            <a:r>
              <a:rPr sz="1250" b="1">
                <a:solidFill>
                  <a:srgbClr val="FFFFFF"/>
                </a:solidFill>
                <a:latin typeface="Calibri"/>
              </a:rPr>
              <a:t>Ministry of Home Affairs</a:t>
            </a:r>
          </a:p>
        </p:txBody>
      </p:sp>
      <p:sp>
        <p:nvSpPr>
          <p:cNvPr id="19" name="TextBox 18"/>
          <p:cNvSpPr txBox="1"/>
          <p:nvPr/>
        </p:nvSpPr>
        <p:spPr>
          <a:xfrm>
            <a:off x="8202168" y="3700272"/>
            <a:ext cx="3056839" cy="201168"/>
          </a:xfrm>
          <a:prstGeom prst="rect">
            <a:avLst/>
          </a:prstGeom>
          <a:noFill/>
        </p:spPr>
        <p:txBody>
          <a:bodyPr wrap="square" lIns="0" rIns="0" tIns="0" bIns="0" anchor="t">
            <a:spAutoFit/>
          </a:bodyPr>
          <a:lstStyle/>
          <a:p>
            <a:pPr algn="l">
              <a:lnSpc>
                <a:spcPct val="116000"/>
              </a:lnSpc>
              <a:spcAft>
                <a:spcPts val="0"/>
              </a:spcAft>
            </a:pPr>
            <a:r>
              <a:rPr sz="900" b="1">
                <a:solidFill>
                  <a:srgbClr val="E07B39"/>
                </a:solidFill>
                <a:latin typeface="Calibri"/>
              </a:rPr>
              <a:t>DEPARTMENT</a:t>
            </a:r>
          </a:p>
        </p:txBody>
      </p:sp>
      <p:sp>
        <p:nvSpPr>
          <p:cNvPr id="20" name="TextBox 19"/>
          <p:cNvSpPr txBox="1"/>
          <p:nvPr/>
        </p:nvSpPr>
        <p:spPr>
          <a:xfrm>
            <a:off x="8202168" y="3901440"/>
            <a:ext cx="3056839" cy="220979"/>
          </a:xfrm>
          <a:prstGeom prst="rect">
            <a:avLst/>
          </a:prstGeom>
          <a:noFill/>
        </p:spPr>
        <p:txBody>
          <a:bodyPr wrap="square" lIns="0" rIns="0" tIns="0" bIns="0" anchor="t">
            <a:spAutoFit/>
          </a:bodyPr>
          <a:lstStyle/>
          <a:p>
            <a:pPr algn="l">
              <a:lnSpc>
                <a:spcPct val="116000"/>
              </a:lnSpc>
              <a:spcAft>
                <a:spcPts val="0"/>
              </a:spcAft>
            </a:pPr>
            <a:r>
              <a:rPr sz="1250" b="1">
                <a:solidFill>
                  <a:srgbClr val="FFFFFF"/>
                </a:solidFill>
                <a:latin typeface="Calibri"/>
              </a:rPr>
              <a:t>NDRF, DM Division</a:t>
            </a:r>
          </a:p>
        </p:txBody>
      </p:sp>
      <p:sp>
        <p:nvSpPr>
          <p:cNvPr id="21" name="TextBox 20"/>
          <p:cNvSpPr txBox="1"/>
          <p:nvPr/>
        </p:nvSpPr>
        <p:spPr>
          <a:xfrm>
            <a:off x="8202168" y="4305300"/>
            <a:ext cx="3056839" cy="201168"/>
          </a:xfrm>
          <a:prstGeom prst="rect">
            <a:avLst/>
          </a:prstGeom>
          <a:noFill/>
        </p:spPr>
        <p:txBody>
          <a:bodyPr wrap="square" lIns="0" rIns="0" tIns="0" bIns="0" anchor="t">
            <a:spAutoFit/>
          </a:bodyPr>
          <a:lstStyle/>
          <a:p>
            <a:pPr algn="l">
              <a:lnSpc>
                <a:spcPct val="116000"/>
              </a:lnSpc>
              <a:spcAft>
                <a:spcPts val="0"/>
              </a:spcAft>
            </a:pPr>
            <a:r>
              <a:rPr sz="900" b="1">
                <a:solidFill>
                  <a:srgbClr val="E07B39"/>
                </a:solidFill>
                <a:latin typeface="Calibri"/>
              </a:rPr>
              <a:t>THEME</a:t>
            </a:r>
          </a:p>
        </p:txBody>
      </p:sp>
      <p:sp>
        <p:nvSpPr>
          <p:cNvPr id="22" name="TextBox 21"/>
          <p:cNvSpPr txBox="1"/>
          <p:nvPr/>
        </p:nvSpPr>
        <p:spPr>
          <a:xfrm>
            <a:off x="8202168" y="4506468"/>
            <a:ext cx="3056839" cy="220979"/>
          </a:xfrm>
          <a:prstGeom prst="rect">
            <a:avLst/>
          </a:prstGeom>
          <a:noFill/>
        </p:spPr>
        <p:txBody>
          <a:bodyPr wrap="square" lIns="0" rIns="0" tIns="0" bIns="0" anchor="t">
            <a:spAutoFit/>
          </a:bodyPr>
          <a:lstStyle/>
          <a:p>
            <a:pPr algn="l">
              <a:lnSpc>
                <a:spcPct val="116000"/>
              </a:lnSpc>
              <a:spcAft>
                <a:spcPts val="0"/>
              </a:spcAft>
            </a:pPr>
            <a:r>
              <a:rPr sz="1250" b="1">
                <a:solidFill>
                  <a:srgbClr val="FFFFFF"/>
                </a:solidFill>
                <a:latin typeface="Calibri"/>
              </a:rPr>
              <a:t>Disaster Management</a:t>
            </a:r>
          </a:p>
        </p:txBody>
      </p:sp>
      <p:sp>
        <p:nvSpPr>
          <p:cNvPr id="23" name="TextBox 22"/>
          <p:cNvSpPr txBox="1"/>
          <p:nvPr/>
        </p:nvSpPr>
        <p:spPr>
          <a:xfrm>
            <a:off x="8202168" y="4910328"/>
            <a:ext cx="3056839" cy="201168"/>
          </a:xfrm>
          <a:prstGeom prst="rect">
            <a:avLst/>
          </a:prstGeom>
          <a:noFill/>
        </p:spPr>
        <p:txBody>
          <a:bodyPr wrap="square" lIns="0" rIns="0" tIns="0" bIns="0" anchor="t">
            <a:spAutoFit/>
          </a:bodyPr>
          <a:lstStyle/>
          <a:p>
            <a:pPr algn="l">
              <a:lnSpc>
                <a:spcPct val="116000"/>
              </a:lnSpc>
              <a:spcAft>
                <a:spcPts val="0"/>
              </a:spcAft>
            </a:pPr>
            <a:r>
              <a:rPr sz="900" b="1">
                <a:solidFill>
                  <a:srgbClr val="E07B39"/>
                </a:solidFill>
                <a:latin typeface="Calibri"/>
              </a:rPr>
              <a:t>PS CATEGORY</a:t>
            </a:r>
          </a:p>
        </p:txBody>
      </p:sp>
      <p:sp>
        <p:nvSpPr>
          <p:cNvPr id="24" name="TextBox 23"/>
          <p:cNvSpPr txBox="1"/>
          <p:nvPr/>
        </p:nvSpPr>
        <p:spPr>
          <a:xfrm>
            <a:off x="8202168" y="5111496"/>
            <a:ext cx="3056839" cy="220979"/>
          </a:xfrm>
          <a:prstGeom prst="rect">
            <a:avLst/>
          </a:prstGeom>
          <a:noFill/>
        </p:spPr>
        <p:txBody>
          <a:bodyPr wrap="square" lIns="0" rIns="0" tIns="0" bIns="0" anchor="t">
            <a:spAutoFit/>
          </a:bodyPr>
          <a:lstStyle/>
          <a:p>
            <a:pPr algn="l">
              <a:lnSpc>
                <a:spcPct val="116000"/>
              </a:lnSpc>
              <a:spcAft>
                <a:spcPts val="0"/>
              </a:spcAft>
            </a:pPr>
            <a:r>
              <a:rPr sz="1250" b="1">
                <a:solidFill>
                  <a:srgbClr val="FFFFFF"/>
                </a:solidFill>
                <a:latin typeface="Calibri"/>
              </a:rPr>
              <a:t>Software</a:t>
            </a:r>
          </a:p>
        </p:txBody>
      </p:sp>
      <p:sp>
        <p:nvSpPr>
          <p:cNvPr id="25" name="TextBox 24"/>
          <p:cNvSpPr txBox="1"/>
          <p:nvPr/>
        </p:nvSpPr>
        <p:spPr>
          <a:xfrm>
            <a:off x="8202168" y="5515356"/>
            <a:ext cx="3056839" cy="201168"/>
          </a:xfrm>
          <a:prstGeom prst="rect">
            <a:avLst/>
          </a:prstGeom>
          <a:noFill/>
        </p:spPr>
        <p:txBody>
          <a:bodyPr wrap="square" lIns="0" rIns="0" tIns="0" bIns="0" anchor="t">
            <a:spAutoFit/>
          </a:bodyPr>
          <a:lstStyle/>
          <a:p>
            <a:pPr algn="l">
              <a:lnSpc>
                <a:spcPct val="116000"/>
              </a:lnSpc>
              <a:spcAft>
                <a:spcPts val="0"/>
              </a:spcAft>
            </a:pPr>
            <a:r>
              <a:rPr sz="900" b="1">
                <a:solidFill>
                  <a:srgbClr val="E07B39"/>
                </a:solidFill>
                <a:latin typeface="Calibri"/>
              </a:rPr>
              <a:t>TEAM ID / NAME</a:t>
            </a:r>
          </a:p>
        </p:txBody>
      </p:sp>
      <p:sp>
        <p:nvSpPr>
          <p:cNvPr id="26" name="TextBox 25"/>
          <p:cNvSpPr txBox="1"/>
          <p:nvPr/>
        </p:nvSpPr>
        <p:spPr>
          <a:xfrm>
            <a:off x="8202168" y="5716524"/>
            <a:ext cx="3056839" cy="220979"/>
          </a:xfrm>
          <a:prstGeom prst="rect">
            <a:avLst/>
          </a:prstGeom>
          <a:noFill/>
        </p:spPr>
        <p:txBody>
          <a:bodyPr wrap="square" lIns="0" rIns="0" tIns="0" bIns="0" anchor="t">
            <a:spAutoFit/>
          </a:bodyPr>
          <a:lstStyle/>
          <a:p>
            <a:pPr algn="l">
              <a:lnSpc>
                <a:spcPct val="116000"/>
              </a:lnSpc>
              <a:spcAft>
                <a:spcPts val="0"/>
              </a:spcAft>
            </a:pPr>
            <a:r>
              <a:rPr sz="1250" b="1">
                <a:solidFill>
                  <a:srgbClr val="FFFFFF"/>
                </a:solidFill>
                <a:latin typeface="Calibri"/>
              </a:rPr>
              <a:t>&lt;&lt; enter Team ID and Name &gt;&gt;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DF2F6"/>
        </a:solidFill>
        <a:effectLst/>
      </p:bgPr>
    </p:bg>
    <p:spTree>
      <p:nvGrpSpPr>
        <p:cNvPr id="1" name=""/>
        <p:cNvGrpSpPr/>
        <p:nvPr/>
      </p:nvGrpSpPr>
      <p:grpSpPr/>
      <p:sp>
        <p:nvSpPr>
          <p:cNvPr id="2" name="Rectangle 1"/>
          <p:cNvSpPr/>
          <p:nvPr/>
        </p:nvSpPr>
        <p:spPr>
          <a:xfrm>
            <a:off x="548640" y="493776"/>
            <a:ext cx="123444" cy="12344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04088" y="493776"/>
            <a:ext cx="123444" cy="123444"/>
          </a:xfrm>
          <a:prstGeom prst="rect">
            <a:avLst/>
          </a:prstGeom>
          <a:solidFill>
            <a:srgbClr val="E3B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9224"/>
            <a:ext cx="123444" cy="123444"/>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9224"/>
            <a:ext cx="123444" cy="123444"/>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475488"/>
            <a:ext cx="7863840" cy="274320"/>
          </a:xfrm>
          <a:prstGeom prst="rect">
            <a:avLst/>
          </a:prstGeom>
          <a:noFill/>
        </p:spPr>
        <p:txBody>
          <a:bodyPr wrap="square" lIns="0" rIns="0" tIns="0" bIns="0" anchor="t">
            <a:spAutoFit/>
          </a:bodyPr>
          <a:lstStyle/>
          <a:p>
            <a:pPr algn="l">
              <a:lnSpc>
                <a:spcPct val="116000"/>
              </a:lnSpc>
              <a:spcAft>
                <a:spcPts val="0"/>
              </a:spcAft>
            </a:pPr>
            <a:r>
              <a:rPr sz="1150" b="1">
                <a:solidFill>
                  <a:srgbClr val="E07B39"/>
                </a:solidFill>
                <a:latin typeface="Calibri"/>
              </a:rPr>
              <a:t>IDEA AND APPROACH DETAILS</a:t>
            </a:r>
          </a:p>
        </p:txBody>
      </p:sp>
      <p:sp>
        <p:nvSpPr>
          <p:cNvPr id="7" name="TextBox 6"/>
          <p:cNvSpPr txBox="1"/>
          <p:nvPr/>
        </p:nvSpPr>
        <p:spPr>
          <a:xfrm>
            <a:off x="548640" y="868680"/>
            <a:ext cx="9509760" cy="640080"/>
          </a:xfrm>
          <a:prstGeom prst="rect">
            <a:avLst/>
          </a:prstGeom>
          <a:noFill/>
        </p:spPr>
        <p:txBody>
          <a:bodyPr wrap="square" lIns="0" rIns="0" tIns="0" bIns="0" anchor="t">
            <a:spAutoFit/>
          </a:bodyPr>
          <a:lstStyle/>
          <a:p>
            <a:pPr algn="l">
              <a:lnSpc>
                <a:spcPct val="116000"/>
              </a:lnSpc>
              <a:spcAft>
                <a:spcPts val="0"/>
              </a:spcAft>
            </a:pPr>
            <a:r>
              <a:rPr sz="3000" b="1">
                <a:solidFill>
                  <a:srgbClr val="0B1B2B"/>
                </a:solidFill>
                <a:latin typeface="Cambria"/>
              </a:rPr>
              <a:t>Proposed Solution</a:t>
            </a:r>
          </a:p>
        </p:txBody>
      </p:sp>
      <p:sp>
        <p:nvSpPr>
          <p:cNvPr id="8" name="TextBox 7"/>
          <p:cNvSpPr txBox="1"/>
          <p:nvPr/>
        </p:nvSpPr>
        <p:spPr>
          <a:xfrm>
            <a:off x="548640" y="1481328"/>
            <a:ext cx="10607040" cy="384048"/>
          </a:xfrm>
          <a:prstGeom prst="rect">
            <a:avLst/>
          </a:prstGeom>
          <a:noFill/>
        </p:spPr>
        <p:txBody>
          <a:bodyPr wrap="square" lIns="0" rIns="0" tIns="0" bIns="0" anchor="t">
            <a:spAutoFit/>
          </a:bodyPr>
          <a:lstStyle/>
          <a:p>
            <a:pPr algn="l">
              <a:lnSpc>
                <a:spcPct val="116000"/>
              </a:lnSpc>
              <a:spcAft>
                <a:spcPts val="0"/>
              </a:spcAft>
            </a:pPr>
            <a:r>
              <a:rPr sz="1350" b="0">
                <a:solidFill>
                  <a:srgbClr val="5A7186"/>
                </a:solidFill>
                <a:latin typeface="Calibri"/>
              </a:rPr>
              <a:t>Not where the water is today — whether anyone should be living there at all.</a:t>
            </a:r>
          </a:p>
        </p:txBody>
      </p:sp>
      <p:sp>
        <p:nvSpPr>
          <p:cNvPr id="9" name="Rectangle 8"/>
          <p:cNvSpPr/>
          <p:nvPr/>
        </p:nvSpPr>
        <p:spPr>
          <a:xfrm>
            <a:off x="548640" y="2057400"/>
            <a:ext cx="5989320" cy="1763268"/>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267712"/>
            <a:ext cx="5440680" cy="256032"/>
          </a:xfrm>
          <a:prstGeom prst="rect">
            <a:avLst/>
          </a:prstGeom>
          <a:noFill/>
        </p:spPr>
        <p:txBody>
          <a:bodyPr wrap="square" lIns="0" rIns="0" tIns="0" bIns="0" anchor="t">
            <a:spAutoFit/>
          </a:bodyPr>
          <a:lstStyle/>
          <a:p>
            <a:pPr algn="l">
              <a:lnSpc>
                <a:spcPct val="116000"/>
              </a:lnSpc>
              <a:spcAft>
                <a:spcPts val="0"/>
              </a:spcAft>
            </a:pPr>
            <a:r>
              <a:rPr sz="1000" b="1">
                <a:solidFill>
                  <a:srgbClr val="E07B39"/>
                </a:solidFill>
                <a:latin typeface="Calibri"/>
              </a:rPr>
              <a:t>HOW IT WORKS</a:t>
            </a:r>
          </a:p>
        </p:txBody>
      </p:sp>
      <p:sp>
        <p:nvSpPr>
          <p:cNvPr id="11" name="TextBox 10"/>
          <p:cNvSpPr txBox="1"/>
          <p:nvPr/>
        </p:nvSpPr>
        <p:spPr>
          <a:xfrm>
            <a:off x="822959" y="2542032"/>
            <a:ext cx="5440680" cy="1104900"/>
          </a:xfrm>
          <a:prstGeom prst="rect">
            <a:avLst/>
          </a:prstGeom>
          <a:noFill/>
        </p:spPr>
        <p:txBody>
          <a:bodyPr wrap="square" lIns="0" rIns="0" tIns="0" bIns="0" anchor="t">
            <a:spAutoFit/>
          </a:bodyPr>
          <a:lstStyle/>
          <a:p>
            <a:pPr algn="l">
              <a:lnSpc>
                <a:spcPct val="116000"/>
              </a:lnSpc>
              <a:spcAft>
                <a:spcPts val="0"/>
              </a:spcAft>
            </a:pPr>
            <a:r>
              <a:rPr sz="1250" b="0">
                <a:solidFill>
                  <a:srgbClr val="20364A"/>
                </a:solidFill>
                <a:latin typeface="Calibri"/>
              </a:rPr>
              <a:t>DRISHTI runs the hazard model at the 5-, 25- and 100-year event and records, for every 160 m cell, the shortest return period at which any of five hazards renders it uninhabitable. That single number — years between events that make a place unliveable — is the Red Zone index. It is physically meaningful, and it maps directly onto a relocation horizon: immediate, short-term or medium-term.</a:t>
            </a:r>
          </a:p>
        </p:txBody>
      </p:sp>
      <p:sp>
        <p:nvSpPr>
          <p:cNvPr id="12" name="Rectangle 11"/>
          <p:cNvSpPr/>
          <p:nvPr/>
        </p:nvSpPr>
        <p:spPr>
          <a:xfrm>
            <a:off x="548640" y="4021835"/>
            <a:ext cx="5989320" cy="1763268"/>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4232148"/>
            <a:ext cx="5440680" cy="256032"/>
          </a:xfrm>
          <a:prstGeom prst="rect">
            <a:avLst/>
          </a:prstGeom>
          <a:noFill/>
        </p:spPr>
        <p:txBody>
          <a:bodyPr wrap="square" lIns="0" rIns="0" tIns="0" bIns="0" anchor="t">
            <a:spAutoFit/>
          </a:bodyPr>
          <a:lstStyle/>
          <a:p>
            <a:pPr algn="l">
              <a:lnSpc>
                <a:spcPct val="116000"/>
              </a:lnSpc>
              <a:spcAft>
                <a:spcPts val="0"/>
              </a:spcAft>
            </a:pPr>
            <a:r>
              <a:rPr sz="1000" b="1">
                <a:solidFill>
                  <a:srgbClr val="E07B39"/>
                </a:solidFill>
                <a:latin typeface="Calibri"/>
              </a:rPr>
              <a:t>HOW IT ADDRESSES THE PROBLEM</a:t>
            </a:r>
          </a:p>
        </p:txBody>
      </p:sp>
      <p:sp>
        <p:nvSpPr>
          <p:cNvPr id="14" name="TextBox 13"/>
          <p:cNvSpPr txBox="1"/>
          <p:nvPr/>
        </p:nvSpPr>
        <p:spPr>
          <a:xfrm>
            <a:off x="822959" y="4506467"/>
            <a:ext cx="5440680" cy="1104900"/>
          </a:xfrm>
          <a:prstGeom prst="rect">
            <a:avLst/>
          </a:prstGeom>
          <a:noFill/>
        </p:spPr>
        <p:txBody>
          <a:bodyPr wrap="square" lIns="0" rIns="0" tIns="0" bIns="0" anchor="t">
            <a:spAutoFit/>
          </a:bodyPr>
          <a:lstStyle/>
          <a:p>
            <a:pPr algn="l">
              <a:lnSpc>
                <a:spcPct val="116000"/>
              </a:lnSpc>
              <a:spcAft>
                <a:spcPts val="0"/>
              </a:spcAft>
            </a:pPr>
            <a:r>
              <a:rPr sz="1250" b="0">
                <a:solidFill>
                  <a:srgbClr val="20364A"/>
                </a:solidFill>
                <a:latin typeface="Calibri"/>
              </a:rPr>
              <a:t>Current relocation is reactive — it starts after a disaster, when the evidence is a body count. Severity of one event tells you almost nothing: a place flooded chest-deep once a century is a place you protect; the same depth every fifth monsoon is a place you move. Recurrence is what separates the two, and it is what no existing portal reports.</a:t>
            </a:r>
          </a:p>
        </p:txBody>
      </p:sp>
      <p:sp>
        <p:nvSpPr>
          <p:cNvPr id="15" name="TextBox 14"/>
          <p:cNvSpPr txBox="1"/>
          <p:nvPr/>
        </p:nvSpPr>
        <p:spPr>
          <a:xfrm>
            <a:off x="6812280" y="2057400"/>
            <a:ext cx="4830775" cy="274320"/>
          </a:xfrm>
          <a:prstGeom prst="rect">
            <a:avLst/>
          </a:prstGeom>
          <a:noFill/>
        </p:spPr>
        <p:txBody>
          <a:bodyPr wrap="square" lIns="0" rIns="0" tIns="0" bIns="0" anchor="t">
            <a:spAutoFit/>
          </a:bodyPr>
          <a:lstStyle/>
          <a:p>
            <a:pPr algn="l">
              <a:lnSpc>
                <a:spcPct val="116000"/>
              </a:lnSpc>
              <a:spcAft>
                <a:spcPts val="0"/>
              </a:spcAft>
            </a:pPr>
            <a:r>
              <a:rPr sz="1000" b="1">
                <a:solidFill>
                  <a:srgbClr val="E07B39"/>
                </a:solidFill>
                <a:latin typeface="Calibri"/>
              </a:rPr>
              <a:t>INNOVATION AND UNIQUENESS</a:t>
            </a:r>
          </a:p>
        </p:txBody>
      </p:sp>
      <p:sp>
        <p:nvSpPr>
          <p:cNvPr id="16" name="Rectangle 15"/>
          <p:cNvSpPr/>
          <p:nvPr/>
        </p:nvSpPr>
        <p:spPr>
          <a:xfrm>
            <a:off x="6812280" y="2468880"/>
            <a:ext cx="82296" cy="82296"/>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50024" y="2395728"/>
            <a:ext cx="4593031" cy="237744"/>
          </a:xfrm>
          <a:prstGeom prst="rect">
            <a:avLst/>
          </a:prstGeom>
          <a:noFill/>
        </p:spPr>
        <p:txBody>
          <a:bodyPr wrap="square" lIns="0" rIns="0" tIns="0" bIns="0" anchor="t">
            <a:spAutoFit/>
          </a:bodyPr>
          <a:lstStyle/>
          <a:p>
            <a:pPr algn="l">
              <a:lnSpc>
                <a:spcPct val="116000"/>
              </a:lnSpc>
              <a:spcAft>
                <a:spcPts val="0"/>
              </a:spcAft>
            </a:pPr>
            <a:r>
              <a:rPr sz="1200" b="1">
                <a:solidFill>
                  <a:srgbClr val="0B1B2B"/>
                </a:solidFill>
                <a:latin typeface="Calibri"/>
              </a:rPr>
              <a:t>Recurrence, not severity</a:t>
            </a:r>
          </a:p>
        </p:txBody>
      </p:sp>
      <p:sp>
        <p:nvSpPr>
          <p:cNvPr id="18" name="TextBox 17"/>
          <p:cNvSpPr txBox="1"/>
          <p:nvPr/>
        </p:nvSpPr>
        <p:spPr>
          <a:xfrm>
            <a:off x="7050024" y="2615184"/>
            <a:ext cx="4593031" cy="371246"/>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The return period at which land becomes uninhabitable — the number a relocation decision actually needs.</a:t>
            </a:r>
          </a:p>
        </p:txBody>
      </p:sp>
      <p:sp>
        <p:nvSpPr>
          <p:cNvPr id="19" name="Rectangle 18"/>
          <p:cNvSpPr/>
          <p:nvPr/>
        </p:nvSpPr>
        <p:spPr>
          <a:xfrm>
            <a:off x="6812280" y="3242462"/>
            <a:ext cx="82296" cy="82296"/>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50024" y="3169310"/>
            <a:ext cx="4593031" cy="237744"/>
          </a:xfrm>
          <a:prstGeom prst="rect">
            <a:avLst/>
          </a:prstGeom>
          <a:noFill/>
        </p:spPr>
        <p:txBody>
          <a:bodyPr wrap="square" lIns="0" rIns="0" tIns="0" bIns="0" anchor="t">
            <a:spAutoFit/>
          </a:bodyPr>
          <a:lstStyle/>
          <a:p>
            <a:pPr algn="l">
              <a:lnSpc>
                <a:spcPct val="116000"/>
              </a:lnSpc>
              <a:spcAft>
                <a:spcPts val="0"/>
              </a:spcAft>
            </a:pPr>
            <a:r>
              <a:rPr sz="1200" b="1">
                <a:solidFill>
                  <a:srgbClr val="0B1B2B"/>
                </a:solidFill>
                <a:latin typeface="Calibri"/>
              </a:rPr>
              <a:t>The Indian standard, implemented</a:t>
            </a:r>
          </a:p>
        </p:txBody>
      </p:sp>
      <p:sp>
        <p:nvSpPr>
          <p:cNvPr id="21" name="TextBox 20"/>
          <p:cNvSpPr txBox="1"/>
          <p:nvPr/>
        </p:nvSpPr>
        <p:spPr>
          <a:xfrm>
            <a:off x="7050024" y="3388766"/>
            <a:ext cx="4593031" cy="371246"/>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Landslide hazard follows BIS IS 14496 (Part 2), the LHEF scheme GSI uses — not an invented overlay.</a:t>
            </a:r>
          </a:p>
        </p:txBody>
      </p:sp>
      <p:sp>
        <p:nvSpPr>
          <p:cNvPr id="22" name="Rectangle 21"/>
          <p:cNvSpPr/>
          <p:nvPr/>
        </p:nvSpPr>
        <p:spPr>
          <a:xfrm>
            <a:off x="6812280" y="4016044"/>
            <a:ext cx="82296" cy="82296"/>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50024" y="3942892"/>
            <a:ext cx="4593031" cy="237744"/>
          </a:xfrm>
          <a:prstGeom prst="rect">
            <a:avLst/>
          </a:prstGeom>
          <a:noFill/>
        </p:spPr>
        <p:txBody>
          <a:bodyPr wrap="square" lIns="0" rIns="0" tIns="0" bIns="0" anchor="t">
            <a:spAutoFit/>
          </a:bodyPr>
          <a:lstStyle/>
          <a:p>
            <a:pPr algn="l">
              <a:lnSpc>
                <a:spcPct val="116000"/>
              </a:lnSpc>
              <a:spcAft>
                <a:spcPts val="0"/>
              </a:spcAft>
            </a:pPr>
            <a:r>
              <a:rPr sz="1200" b="1">
                <a:solidFill>
                  <a:srgbClr val="0B1B2B"/>
                </a:solidFill>
                <a:latin typeface="Calibri"/>
              </a:rPr>
              <a:t>Five hazards, one index</a:t>
            </a:r>
          </a:p>
        </p:txBody>
      </p:sp>
      <p:sp>
        <p:nvSpPr>
          <p:cNvPr id="24" name="TextBox 23"/>
          <p:cNvSpPr txBox="1"/>
          <p:nvPr/>
        </p:nvSpPr>
        <p:spPr>
          <a:xfrm>
            <a:off x="7050024" y="4162348"/>
            <a:ext cx="4593031" cy="371246"/>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Flood, landslide, waterlogging, coastal erosion and cloudburst combined by dominance, with the governing hazard named.</a:t>
            </a:r>
          </a:p>
        </p:txBody>
      </p:sp>
      <p:sp>
        <p:nvSpPr>
          <p:cNvPr id="25" name="Rectangle 24"/>
          <p:cNvSpPr/>
          <p:nvPr/>
        </p:nvSpPr>
        <p:spPr>
          <a:xfrm>
            <a:off x="6812280" y="4789627"/>
            <a:ext cx="82296" cy="82296"/>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50024" y="4716475"/>
            <a:ext cx="4593031" cy="237744"/>
          </a:xfrm>
          <a:prstGeom prst="rect">
            <a:avLst/>
          </a:prstGeom>
          <a:noFill/>
        </p:spPr>
        <p:txBody>
          <a:bodyPr wrap="square" lIns="0" rIns="0" tIns="0" bIns="0" anchor="t">
            <a:spAutoFit/>
          </a:bodyPr>
          <a:lstStyle/>
          <a:p>
            <a:pPr algn="l">
              <a:lnSpc>
                <a:spcPct val="116000"/>
              </a:lnSpc>
              <a:spcAft>
                <a:spcPts val="0"/>
              </a:spcAft>
            </a:pPr>
            <a:r>
              <a:rPr sz="1200" b="1">
                <a:solidFill>
                  <a:srgbClr val="0B1B2B"/>
                </a:solidFill>
                <a:latin typeface="Calibri"/>
              </a:rPr>
              <a:t>Capacity, not just safety</a:t>
            </a:r>
          </a:p>
        </p:txBody>
      </p:sp>
      <p:sp>
        <p:nvSpPr>
          <p:cNvPr id="27" name="TextBox 26"/>
          <p:cNvSpPr txBox="1"/>
          <p:nvPr/>
        </p:nvSpPr>
        <p:spPr>
          <a:xfrm>
            <a:off x="7050024" y="4935931"/>
            <a:ext cx="4593031" cy="371246"/>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Sites are scored on safety, buildability and room — and the allocator respects capacity rather than assuming it.</a:t>
            </a:r>
          </a:p>
        </p:txBody>
      </p:sp>
      <p:sp>
        <p:nvSpPr>
          <p:cNvPr id="28" name="Rectangle 27"/>
          <p:cNvSpPr/>
          <p:nvPr/>
        </p:nvSpPr>
        <p:spPr>
          <a:xfrm>
            <a:off x="6812280" y="5563209"/>
            <a:ext cx="82296" cy="82296"/>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50024" y="5490057"/>
            <a:ext cx="4593031" cy="237744"/>
          </a:xfrm>
          <a:prstGeom prst="rect">
            <a:avLst/>
          </a:prstGeom>
          <a:noFill/>
        </p:spPr>
        <p:txBody>
          <a:bodyPr wrap="square" lIns="0" rIns="0" tIns="0" bIns="0" anchor="t">
            <a:spAutoFit/>
          </a:bodyPr>
          <a:lstStyle/>
          <a:p>
            <a:pPr algn="l">
              <a:lnSpc>
                <a:spcPct val="116000"/>
              </a:lnSpc>
              <a:spcAft>
                <a:spcPts val="0"/>
              </a:spcAft>
            </a:pPr>
            <a:r>
              <a:rPr sz="1200" b="1">
                <a:solidFill>
                  <a:srgbClr val="0B1B2B"/>
                </a:solidFill>
                <a:latin typeface="Calibri"/>
              </a:rPr>
              <a:t>Distance is a cost, not a footnote</a:t>
            </a:r>
          </a:p>
        </p:txBody>
      </p:sp>
      <p:sp>
        <p:nvSpPr>
          <p:cNvPr id="30" name="TextBox 29"/>
          <p:cNvSpPr txBox="1"/>
          <p:nvPr/>
        </p:nvSpPr>
        <p:spPr>
          <a:xfrm>
            <a:off x="7050024" y="5709513"/>
            <a:ext cx="4593031" cy="371246"/>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Resettlement fails when people are moved from their fields. Mean displacement is minimised and reported.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DF2F6"/>
        </a:solidFill>
        <a:effectLst/>
      </p:bgPr>
    </p:bg>
    <p:spTree>
      <p:nvGrpSpPr>
        <p:cNvPr id="1" name=""/>
        <p:cNvGrpSpPr/>
        <p:nvPr/>
      </p:nvGrpSpPr>
      <p:grpSpPr/>
      <p:sp>
        <p:nvSpPr>
          <p:cNvPr id="2" name="Rectangle 1"/>
          <p:cNvSpPr/>
          <p:nvPr/>
        </p:nvSpPr>
        <p:spPr>
          <a:xfrm>
            <a:off x="548640" y="493776"/>
            <a:ext cx="123444" cy="12344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04088" y="493776"/>
            <a:ext cx="123444" cy="123444"/>
          </a:xfrm>
          <a:prstGeom prst="rect">
            <a:avLst/>
          </a:prstGeom>
          <a:solidFill>
            <a:srgbClr val="E3B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9224"/>
            <a:ext cx="123444" cy="123444"/>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9224"/>
            <a:ext cx="123444" cy="123444"/>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475488"/>
            <a:ext cx="7863840" cy="274320"/>
          </a:xfrm>
          <a:prstGeom prst="rect">
            <a:avLst/>
          </a:prstGeom>
          <a:noFill/>
        </p:spPr>
        <p:txBody>
          <a:bodyPr wrap="square" lIns="0" rIns="0" tIns="0" bIns="0" anchor="t">
            <a:spAutoFit/>
          </a:bodyPr>
          <a:lstStyle/>
          <a:p>
            <a:pPr algn="l">
              <a:lnSpc>
                <a:spcPct val="116000"/>
              </a:lnSpc>
              <a:spcAft>
                <a:spcPts val="0"/>
              </a:spcAft>
            </a:pPr>
            <a:r>
              <a:rPr sz="1150" b="1">
                <a:solidFill>
                  <a:srgbClr val="E07B39"/>
                </a:solidFill>
                <a:latin typeface="Calibri"/>
              </a:rPr>
              <a:t>TECHNICAL APPROACH</a:t>
            </a:r>
          </a:p>
        </p:txBody>
      </p:sp>
      <p:sp>
        <p:nvSpPr>
          <p:cNvPr id="7" name="TextBox 6"/>
          <p:cNvSpPr txBox="1"/>
          <p:nvPr/>
        </p:nvSpPr>
        <p:spPr>
          <a:xfrm>
            <a:off x="548640" y="868680"/>
            <a:ext cx="9509760" cy="640080"/>
          </a:xfrm>
          <a:prstGeom prst="rect">
            <a:avLst/>
          </a:prstGeom>
          <a:noFill/>
        </p:spPr>
        <p:txBody>
          <a:bodyPr wrap="square" lIns="0" rIns="0" tIns="0" bIns="0" anchor="t">
            <a:spAutoFit/>
          </a:bodyPr>
          <a:lstStyle/>
          <a:p>
            <a:pPr algn="l">
              <a:lnSpc>
                <a:spcPct val="116000"/>
              </a:lnSpc>
              <a:spcAft>
                <a:spcPts val="0"/>
              </a:spcAft>
            </a:pPr>
            <a:r>
              <a:rPr sz="3000" b="1">
                <a:solidFill>
                  <a:srgbClr val="0B1B2B"/>
                </a:solidFill>
                <a:latin typeface="Cambria"/>
              </a:rPr>
              <a:t>Technologies and Methodology</a:t>
            </a:r>
          </a:p>
        </p:txBody>
      </p:sp>
      <p:sp>
        <p:nvSpPr>
          <p:cNvPr id="8" name="TextBox 7"/>
          <p:cNvSpPr txBox="1"/>
          <p:nvPr/>
        </p:nvSpPr>
        <p:spPr>
          <a:xfrm>
            <a:off x="548640" y="1481328"/>
            <a:ext cx="10607040" cy="384048"/>
          </a:xfrm>
          <a:prstGeom prst="rect">
            <a:avLst/>
          </a:prstGeom>
          <a:noFill/>
        </p:spPr>
        <p:txBody>
          <a:bodyPr wrap="square" lIns="0" rIns="0" tIns="0" bIns="0" anchor="t">
            <a:spAutoFit/>
          </a:bodyPr>
          <a:lstStyle/>
          <a:p>
            <a:pPr algn="l">
              <a:lnSpc>
                <a:spcPct val="116000"/>
              </a:lnSpc>
              <a:spcAft>
                <a:spcPts val="0"/>
              </a:spcAft>
            </a:pPr>
            <a:r>
              <a:rPr sz="1350" b="0">
                <a:solidFill>
                  <a:srgbClr val="5A7186"/>
                </a:solidFill>
                <a:latin typeface="Calibri"/>
              </a:rPr>
              <a:t>Every step is a published method. Physics first, because a relocation order has to survive an inquiry.</a:t>
            </a:r>
          </a:p>
        </p:txBody>
      </p:sp>
      <p:sp>
        <p:nvSpPr>
          <p:cNvPr id="9" name="TextBox 8"/>
          <p:cNvSpPr txBox="1"/>
          <p:nvPr/>
        </p:nvSpPr>
        <p:spPr>
          <a:xfrm>
            <a:off x="548640" y="2029968"/>
            <a:ext cx="10607040" cy="256032"/>
          </a:xfrm>
          <a:prstGeom prst="rect">
            <a:avLst/>
          </a:prstGeom>
          <a:noFill/>
        </p:spPr>
        <p:txBody>
          <a:bodyPr wrap="square" lIns="0" rIns="0" tIns="0" bIns="0" anchor="t">
            <a:spAutoFit/>
          </a:bodyPr>
          <a:lstStyle/>
          <a:p>
            <a:pPr algn="l">
              <a:lnSpc>
                <a:spcPct val="116000"/>
              </a:lnSpc>
              <a:spcAft>
                <a:spcPts val="0"/>
              </a:spcAft>
            </a:pPr>
            <a:r>
              <a:rPr sz="1000" b="1">
                <a:solidFill>
                  <a:srgbClr val="E07B39"/>
                </a:solidFill>
                <a:latin typeface="Calibri"/>
              </a:rPr>
              <a:t>PROCESS FLOW</a:t>
            </a:r>
          </a:p>
        </p:txBody>
      </p:sp>
      <p:sp>
        <p:nvSpPr>
          <p:cNvPr id="10" name="Chevron 9"/>
          <p:cNvSpPr/>
          <p:nvPr/>
        </p:nvSpPr>
        <p:spPr>
          <a:xfrm>
            <a:off x="548640" y="2359152"/>
            <a:ext cx="2103120" cy="658368"/>
          </a:xfrm>
          <a:prstGeom prst="chevron">
            <a:avLst/>
          </a:prstGeom>
          <a:solidFill>
            <a:srgbClr val="0B1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TERRAIN</a:t>
            </a:r>
          </a:p>
        </p:txBody>
      </p:sp>
      <p:sp>
        <p:nvSpPr>
          <p:cNvPr id="11" name="TextBox 10"/>
          <p:cNvSpPr txBox="1"/>
          <p:nvPr/>
        </p:nvSpPr>
        <p:spPr>
          <a:xfrm>
            <a:off x="694944" y="3163824"/>
            <a:ext cx="1920239" cy="82296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DEM to HAND,
slope, wetness,
D8 drainage</a:t>
            </a:r>
          </a:p>
        </p:txBody>
      </p:sp>
      <p:sp>
        <p:nvSpPr>
          <p:cNvPr id="12" name="Chevron 11"/>
          <p:cNvSpPr/>
          <p:nvPr/>
        </p:nvSpPr>
        <p:spPr>
          <a:xfrm>
            <a:off x="2793491" y="2359152"/>
            <a:ext cx="2103120" cy="658368"/>
          </a:xfrm>
          <a:prstGeom prst="chevron">
            <a:avLst/>
          </a:prstGeom>
          <a:solidFill>
            <a:srgbClr val="0B1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HAZARD</a:t>
            </a:r>
          </a:p>
        </p:txBody>
      </p:sp>
      <p:sp>
        <p:nvSpPr>
          <p:cNvPr id="13" name="TextBox 12"/>
          <p:cNvSpPr txBox="1"/>
          <p:nvPr/>
        </p:nvSpPr>
        <p:spPr>
          <a:xfrm>
            <a:off x="2939796" y="3163824"/>
            <a:ext cx="1920239" cy="82296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Flood · landslide
waterlogging ·
erosion, x3 events</a:t>
            </a:r>
          </a:p>
        </p:txBody>
      </p:sp>
      <p:sp>
        <p:nvSpPr>
          <p:cNvPr id="14" name="Chevron 13"/>
          <p:cNvSpPr/>
          <p:nvPr/>
        </p:nvSpPr>
        <p:spPr>
          <a:xfrm>
            <a:off x="5038344" y="2359152"/>
            <a:ext cx="2103120" cy="658368"/>
          </a:xfrm>
          <a:prstGeom prst="chevron">
            <a:avLst/>
          </a:prstGeom>
          <a:solidFill>
            <a:srgbClr val="0B1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RECURRENCE</a:t>
            </a:r>
          </a:p>
        </p:txBody>
      </p:sp>
      <p:sp>
        <p:nvSpPr>
          <p:cNvPr id="15" name="TextBox 14"/>
          <p:cNvSpPr txBox="1"/>
          <p:nvPr/>
        </p:nvSpPr>
        <p:spPr>
          <a:xfrm>
            <a:off x="5184648" y="3163824"/>
            <a:ext cx="1920239" cy="82296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Return period at
which land turns
uninhabitable</a:t>
            </a:r>
          </a:p>
        </p:txBody>
      </p:sp>
      <p:sp>
        <p:nvSpPr>
          <p:cNvPr id="16" name="Chevron 15"/>
          <p:cNvSpPr/>
          <p:nvPr/>
        </p:nvSpPr>
        <p:spPr>
          <a:xfrm>
            <a:off x="7283196" y="2359152"/>
            <a:ext cx="2103120" cy="658368"/>
          </a:xfrm>
          <a:prstGeom prst="chevron">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EXPOSE</a:t>
            </a:r>
          </a:p>
        </p:txBody>
      </p:sp>
      <p:sp>
        <p:nvSpPr>
          <p:cNvPr id="17" name="TextBox 16"/>
          <p:cNvSpPr txBox="1"/>
          <p:nvPr/>
        </p:nvSpPr>
        <p:spPr>
          <a:xfrm>
            <a:off x="7429500" y="3163824"/>
            <a:ext cx="1920239" cy="82296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Dasymetric
population, roads,
facilities</a:t>
            </a:r>
          </a:p>
        </p:txBody>
      </p:sp>
      <p:sp>
        <p:nvSpPr>
          <p:cNvPr id="18" name="Chevron 17"/>
          <p:cNvSpPr/>
          <p:nvPr/>
        </p:nvSpPr>
        <p:spPr>
          <a:xfrm>
            <a:off x="9528048" y="2359152"/>
            <a:ext cx="2103120" cy="658368"/>
          </a:xfrm>
          <a:prstGeom prst="chevron">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RELOCATE</a:t>
            </a:r>
          </a:p>
        </p:txBody>
      </p:sp>
      <p:sp>
        <p:nvSpPr>
          <p:cNvPr id="19" name="TextBox 18"/>
          <p:cNvSpPr txBox="1"/>
          <p:nvPr/>
        </p:nvSpPr>
        <p:spPr>
          <a:xfrm>
            <a:off x="9674352" y="3163824"/>
            <a:ext cx="1920239" cy="82296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Site capacity,
ranked habitations,
allocation</a:t>
            </a:r>
          </a:p>
        </p:txBody>
      </p:sp>
      <p:sp>
        <p:nvSpPr>
          <p:cNvPr id="20" name="TextBox 19"/>
          <p:cNvSpPr txBox="1"/>
          <p:nvPr/>
        </p:nvSpPr>
        <p:spPr>
          <a:xfrm>
            <a:off x="548640" y="4187952"/>
            <a:ext cx="10607040" cy="256032"/>
          </a:xfrm>
          <a:prstGeom prst="rect">
            <a:avLst/>
          </a:prstGeom>
          <a:noFill/>
        </p:spPr>
        <p:txBody>
          <a:bodyPr wrap="square" lIns="0" rIns="0" tIns="0" bIns="0" anchor="t">
            <a:spAutoFit/>
          </a:bodyPr>
          <a:lstStyle/>
          <a:p>
            <a:pPr algn="l">
              <a:lnSpc>
                <a:spcPct val="116000"/>
              </a:lnSpc>
              <a:spcAft>
                <a:spcPts val="0"/>
              </a:spcAft>
            </a:pPr>
            <a:r>
              <a:rPr sz="1000" b="1">
                <a:solidFill>
                  <a:srgbClr val="E07B39"/>
                </a:solidFill>
                <a:latin typeface="Calibri"/>
              </a:rPr>
              <a:t>TECHNOLOGIES USED</a:t>
            </a:r>
          </a:p>
        </p:txBody>
      </p:sp>
      <p:sp>
        <p:nvSpPr>
          <p:cNvPr id="21" name="Rectangle 20"/>
          <p:cNvSpPr/>
          <p:nvPr/>
        </p:nvSpPr>
        <p:spPr>
          <a:xfrm>
            <a:off x="548640" y="4443984"/>
            <a:ext cx="3527450" cy="1889394"/>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626864"/>
            <a:ext cx="3051962" cy="274320"/>
          </a:xfrm>
          <a:prstGeom prst="rect">
            <a:avLst/>
          </a:prstGeom>
          <a:noFill/>
        </p:spPr>
        <p:txBody>
          <a:bodyPr wrap="square" lIns="0" rIns="0" tIns="0" bIns="0" anchor="t">
            <a:spAutoFit/>
          </a:bodyPr>
          <a:lstStyle/>
          <a:p>
            <a:pPr algn="l">
              <a:lnSpc>
                <a:spcPct val="116000"/>
              </a:lnSpc>
              <a:spcAft>
                <a:spcPts val="0"/>
              </a:spcAft>
            </a:pPr>
            <a:r>
              <a:rPr sz="1150" b="1">
                <a:solidFill>
                  <a:srgbClr val="0B1B2B"/>
                </a:solidFill>
                <a:latin typeface="Calibri"/>
              </a:rPr>
              <a:t>Languages, frameworks, hardware</a:t>
            </a:r>
          </a:p>
        </p:txBody>
      </p:sp>
      <p:sp>
        <p:nvSpPr>
          <p:cNvPr id="23" name="TextBox 22"/>
          <p:cNvSpPr txBox="1"/>
          <p:nvPr/>
        </p:nvSpPr>
        <p:spPr>
          <a:xfrm>
            <a:off x="786384" y="4919472"/>
            <a:ext cx="3051962" cy="1212738"/>
          </a:xfrm>
          <a:prstGeom prst="rect">
            <a:avLst/>
          </a:prstGeom>
          <a:noFill/>
        </p:spPr>
        <p:txBody>
          <a:bodyPr wrap="square" lIns="0" rIns="0" tIns="0" bIns="0" anchor="t">
            <a:spAutoFit/>
          </a:bodyPr>
          <a:lstStyle/>
          <a:p>
            <a:pPr algn="l">
              <a:lnSpc>
                <a:spcPct val="116000"/>
              </a:lnSpc>
              <a:spcAft>
                <a:spcPts val="0"/>
              </a:spcAft>
            </a:pPr>
            <a:r>
              <a:rPr sz="980" b="0">
                <a:solidFill>
                  <a:srgbClr val="5A7186"/>
                </a:solidFill>
                <a:latin typeface="Calibri"/>
              </a:rPr>
              <a:t>Python 3.10 · NumPy 2.2 · FastAPI 0.141 · Uvicorn · scikit-learn 1.7 · pytest (287 tests). Front end is vanilla ES modules with Leaflet 1.9 vendored locally — no bundler, no build step. Ships as a Windows installer: PyInstaller 6.22 freezes the backend, Electron 33 provides the window. Hardware: commodity x86, 4 GB RAM, no GPU, no GDAL, runs fully offline.</a:t>
            </a:r>
          </a:p>
        </p:txBody>
      </p:sp>
      <p:sp>
        <p:nvSpPr>
          <p:cNvPr id="24" name="Rectangle 23"/>
          <p:cNvSpPr/>
          <p:nvPr/>
        </p:nvSpPr>
        <p:spPr>
          <a:xfrm>
            <a:off x="4332122" y="4443984"/>
            <a:ext cx="3527450" cy="2062642"/>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69866" y="4626864"/>
            <a:ext cx="3051962" cy="274320"/>
          </a:xfrm>
          <a:prstGeom prst="rect">
            <a:avLst/>
          </a:prstGeom>
          <a:noFill/>
        </p:spPr>
        <p:txBody>
          <a:bodyPr wrap="square" lIns="0" rIns="0" tIns="0" bIns="0" anchor="t">
            <a:spAutoFit/>
          </a:bodyPr>
          <a:lstStyle/>
          <a:p>
            <a:pPr algn="l">
              <a:lnSpc>
                <a:spcPct val="116000"/>
              </a:lnSpc>
              <a:spcAft>
                <a:spcPts val="0"/>
              </a:spcAft>
            </a:pPr>
            <a:r>
              <a:rPr sz="1150" b="1">
                <a:solidFill>
                  <a:srgbClr val="0B1B2B"/>
                </a:solidFill>
                <a:latin typeface="Calibri"/>
              </a:rPr>
              <a:t>Algorithms and national standards</a:t>
            </a:r>
          </a:p>
        </p:txBody>
      </p:sp>
      <p:sp>
        <p:nvSpPr>
          <p:cNvPr id="26" name="TextBox 25"/>
          <p:cNvSpPr txBox="1"/>
          <p:nvPr/>
        </p:nvSpPr>
        <p:spPr>
          <a:xfrm>
            <a:off x="4569866" y="4919472"/>
            <a:ext cx="3051962" cy="1385986"/>
          </a:xfrm>
          <a:prstGeom prst="rect">
            <a:avLst/>
          </a:prstGeom>
          <a:noFill/>
        </p:spPr>
        <p:txBody>
          <a:bodyPr wrap="square" lIns="0" rIns="0" tIns="0" bIns="0" anchor="t">
            <a:spAutoFit/>
          </a:bodyPr>
          <a:lstStyle/>
          <a:p>
            <a:pPr algn="l">
              <a:lnSpc>
                <a:spcPct val="116000"/>
              </a:lnSpc>
              <a:spcAft>
                <a:spcPts val="0"/>
              </a:spcAft>
            </a:pPr>
            <a:r>
              <a:rPr sz="980" b="0">
                <a:solidFill>
                  <a:srgbClr val="5A7186"/>
                </a:solidFill>
                <a:latin typeface="Calibri"/>
              </a:rPr>
              <a:t>Landslide: BIS IS 14496 (Part 2) LHEF rating scheme — the Geological Survey of India method. Trigger: Caine (1980) intensity-duration threshold. Terrain: Horn slope, Wang &amp; Liu priority-flood, Garbrecht &amp; Martz flat resolution, D8 routing, HAND (Nobre 2011), Beven-Kirkby wetness index. Flood: SCS Curve Number, Manning compound channel, FwDET depth. Erosion: Bruun (1962). Radar: Lee filter, Otsu threshold.</a:t>
            </a:r>
          </a:p>
        </p:txBody>
      </p:sp>
      <p:sp>
        <p:nvSpPr>
          <p:cNvPr id="27" name="Rectangle 26"/>
          <p:cNvSpPr/>
          <p:nvPr/>
        </p:nvSpPr>
        <p:spPr>
          <a:xfrm>
            <a:off x="8115604" y="4443984"/>
            <a:ext cx="3527450" cy="2062642"/>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53348" y="4626864"/>
            <a:ext cx="3051962" cy="274320"/>
          </a:xfrm>
          <a:prstGeom prst="rect">
            <a:avLst/>
          </a:prstGeom>
          <a:noFill/>
        </p:spPr>
        <p:txBody>
          <a:bodyPr wrap="square" lIns="0" rIns="0" tIns="0" bIns="0" anchor="t">
            <a:spAutoFit/>
          </a:bodyPr>
          <a:lstStyle/>
          <a:p>
            <a:pPr algn="l">
              <a:lnSpc>
                <a:spcPct val="116000"/>
              </a:lnSpc>
              <a:spcAft>
                <a:spcPts val="0"/>
              </a:spcAft>
            </a:pPr>
            <a:r>
              <a:rPr sz="1150" b="1">
                <a:solidFill>
                  <a:srgbClr val="0B1B2B"/>
                </a:solidFill>
                <a:latin typeface="Calibri"/>
              </a:rPr>
              <a:t>Data sources and machine learning</a:t>
            </a:r>
          </a:p>
        </p:txBody>
      </p:sp>
      <p:sp>
        <p:nvSpPr>
          <p:cNvPr id="29" name="TextBox 28"/>
          <p:cNvSpPr txBox="1"/>
          <p:nvPr/>
        </p:nvSpPr>
        <p:spPr>
          <a:xfrm>
            <a:off x="8353348" y="4919472"/>
            <a:ext cx="3051962" cy="1385986"/>
          </a:xfrm>
          <a:prstGeom prst="rect">
            <a:avLst/>
          </a:prstGeom>
          <a:noFill/>
        </p:spPr>
        <p:txBody>
          <a:bodyPr wrap="square" lIns="0" rIns="0" tIns="0" bIns="0" anchor="t">
            <a:spAutoFit/>
          </a:bodyPr>
          <a:lstStyle/>
          <a:p>
            <a:pPr algn="l">
              <a:lnSpc>
                <a:spcPct val="116000"/>
              </a:lnSpc>
              <a:spcAft>
                <a:spcPts val="0"/>
              </a:spcAft>
            </a:pPr>
            <a:r>
              <a:rPr sz="980" b="0">
                <a:solidFill>
                  <a:srgbClr val="5A7186"/>
                </a:solidFill>
                <a:latin typeface="Calibri"/>
              </a:rPr>
              <a:t>Live with no credentials: Open-Meteo (rainfall, soil moisture, CAPE) and the Copernicus Sentinel-1 catalogue. Connectors written for ISRO Bhoonidhi CartoDEM, Bhuvan, CWC gauges and GSI lithology. ML: random forests for radar water detection (F1 0.96 against a 0.66 physics baseline) and as a national red-zone surrogate (R² 0.77), both validated on held-out districts.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DF2F6"/>
        </a:solidFill>
        <a:effectLst/>
      </p:bgPr>
    </p:bg>
    <p:spTree>
      <p:nvGrpSpPr>
        <p:cNvPr id="1" name=""/>
        <p:cNvGrpSpPr/>
        <p:nvPr/>
      </p:nvGrpSpPr>
      <p:grpSpPr/>
      <p:sp>
        <p:nvSpPr>
          <p:cNvPr id="2" name="Rectangle 1"/>
          <p:cNvSpPr/>
          <p:nvPr/>
        </p:nvSpPr>
        <p:spPr>
          <a:xfrm>
            <a:off x="548640" y="493776"/>
            <a:ext cx="123444" cy="12344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04088" y="493776"/>
            <a:ext cx="123444" cy="123444"/>
          </a:xfrm>
          <a:prstGeom prst="rect">
            <a:avLst/>
          </a:prstGeom>
          <a:solidFill>
            <a:srgbClr val="E3B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9224"/>
            <a:ext cx="123444" cy="123444"/>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9224"/>
            <a:ext cx="123444" cy="123444"/>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475488"/>
            <a:ext cx="7863840" cy="274320"/>
          </a:xfrm>
          <a:prstGeom prst="rect">
            <a:avLst/>
          </a:prstGeom>
          <a:noFill/>
        </p:spPr>
        <p:txBody>
          <a:bodyPr wrap="square" lIns="0" rIns="0" tIns="0" bIns="0" anchor="t">
            <a:spAutoFit/>
          </a:bodyPr>
          <a:lstStyle/>
          <a:p>
            <a:pPr algn="l">
              <a:lnSpc>
                <a:spcPct val="116000"/>
              </a:lnSpc>
              <a:spcAft>
                <a:spcPts val="0"/>
              </a:spcAft>
            </a:pPr>
            <a:r>
              <a:rPr sz="1150" b="1">
                <a:solidFill>
                  <a:srgbClr val="E07B39"/>
                </a:solidFill>
                <a:latin typeface="Calibri"/>
              </a:rPr>
              <a:t>FEASIBILITY AND VIABILITY</a:t>
            </a:r>
          </a:p>
        </p:txBody>
      </p:sp>
      <p:sp>
        <p:nvSpPr>
          <p:cNvPr id="7" name="TextBox 6"/>
          <p:cNvSpPr txBox="1"/>
          <p:nvPr/>
        </p:nvSpPr>
        <p:spPr>
          <a:xfrm>
            <a:off x="548640" y="868680"/>
            <a:ext cx="9509760" cy="640080"/>
          </a:xfrm>
          <a:prstGeom prst="rect">
            <a:avLst/>
          </a:prstGeom>
          <a:noFill/>
        </p:spPr>
        <p:txBody>
          <a:bodyPr wrap="square" lIns="0" rIns="0" tIns="0" bIns="0" anchor="t">
            <a:spAutoFit/>
          </a:bodyPr>
          <a:lstStyle/>
          <a:p>
            <a:pPr algn="l">
              <a:lnSpc>
                <a:spcPct val="116000"/>
              </a:lnSpc>
              <a:spcAft>
                <a:spcPts val="0"/>
              </a:spcAft>
            </a:pPr>
            <a:r>
              <a:rPr sz="3000" b="1">
                <a:solidFill>
                  <a:srgbClr val="0B1B2B"/>
                </a:solidFill>
                <a:latin typeface="Cambria"/>
              </a:rPr>
              <a:t>What is built, and what could break it</a:t>
            </a:r>
          </a:p>
        </p:txBody>
      </p:sp>
      <p:sp>
        <p:nvSpPr>
          <p:cNvPr id="8" name="TextBox 7"/>
          <p:cNvSpPr txBox="1"/>
          <p:nvPr/>
        </p:nvSpPr>
        <p:spPr>
          <a:xfrm>
            <a:off x="548640" y="1481328"/>
            <a:ext cx="10607040" cy="384048"/>
          </a:xfrm>
          <a:prstGeom prst="rect">
            <a:avLst/>
          </a:prstGeom>
          <a:noFill/>
        </p:spPr>
        <p:txBody>
          <a:bodyPr wrap="square" lIns="0" rIns="0" tIns="0" bIns="0" anchor="t">
            <a:spAutoFit/>
          </a:bodyPr>
          <a:lstStyle/>
          <a:p>
            <a:pPr algn="l">
              <a:lnSpc>
                <a:spcPct val="116000"/>
              </a:lnSpc>
              <a:spcAft>
                <a:spcPts val="0"/>
              </a:spcAft>
            </a:pPr>
            <a:r>
              <a:rPr sz="1350" b="0">
                <a:solidFill>
                  <a:srgbClr val="5A7186"/>
                </a:solidFill>
                <a:latin typeface="Calibri"/>
              </a:rPr>
              <a:t>Every risk is stated with its mitigation. A pitch with no weaknesses has not been tested.</a:t>
            </a:r>
          </a:p>
        </p:txBody>
      </p:sp>
      <p:sp>
        <p:nvSpPr>
          <p:cNvPr id="9" name="Rectangle 8"/>
          <p:cNvSpPr/>
          <p:nvPr/>
        </p:nvSpPr>
        <p:spPr>
          <a:xfrm>
            <a:off x="548640" y="2084831"/>
            <a:ext cx="3515258" cy="4612843"/>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6384" y="2340864"/>
            <a:ext cx="146304" cy="14630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304288"/>
            <a:ext cx="2783738" cy="274320"/>
          </a:xfrm>
          <a:prstGeom prst="rect">
            <a:avLst/>
          </a:prstGeom>
          <a:noFill/>
        </p:spPr>
        <p:txBody>
          <a:bodyPr wrap="square" lIns="0" rIns="0" tIns="0" bIns="0" anchor="t">
            <a:spAutoFit/>
          </a:bodyPr>
          <a:lstStyle/>
          <a:p>
            <a:pPr algn="l">
              <a:lnSpc>
                <a:spcPct val="116000"/>
              </a:lnSpc>
              <a:spcAft>
                <a:spcPts val="0"/>
              </a:spcAft>
            </a:pPr>
            <a:r>
              <a:rPr sz="1050" b="1">
                <a:solidFill>
                  <a:srgbClr val="2E8B57"/>
                </a:solidFill>
                <a:latin typeface="Calibri"/>
              </a:rPr>
              <a:t>ALREADY BUILT AND TESTED</a:t>
            </a:r>
          </a:p>
        </p:txBody>
      </p:sp>
      <p:sp>
        <p:nvSpPr>
          <p:cNvPr id="12" name="Rectangle 11"/>
          <p:cNvSpPr/>
          <p:nvPr/>
        </p:nvSpPr>
        <p:spPr>
          <a:xfrm>
            <a:off x="786384" y="2807208"/>
            <a:ext cx="73152" cy="7315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724912"/>
            <a:ext cx="2802026" cy="583387"/>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All 735 districts — 22 modelled on real 30 m Copernicus terrain, 713 screened on live weather, and never shown alike.</a:t>
            </a:r>
          </a:p>
        </p:txBody>
      </p:sp>
      <p:sp>
        <p:nvSpPr>
          <p:cNvPr id="14" name="Rectangle 13"/>
          <p:cNvSpPr/>
          <p:nvPr/>
        </p:nvSpPr>
        <p:spPr>
          <a:xfrm>
            <a:off x="786384" y="3664915"/>
            <a:ext cx="73152" cy="7315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582619"/>
            <a:ext cx="2802026" cy="583387"/>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Five hazards, Census vulnerability, 41 cited events, and GHSL encroachment inside Red Zones.</a:t>
            </a:r>
          </a:p>
        </p:txBody>
      </p:sp>
      <p:sp>
        <p:nvSpPr>
          <p:cNvPr id="16" name="Rectangle 15"/>
          <p:cNvSpPr/>
          <p:nvPr/>
        </p:nvSpPr>
        <p:spPr>
          <a:xfrm>
            <a:off x="786384" y="4522622"/>
            <a:ext cx="73152" cy="7315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440326"/>
            <a:ext cx="2802026" cy="583387"/>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287 automated tests, including the safety invariant that no relocation site may lie inside a Red Zone.</a:t>
            </a:r>
          </a:p>
        </p:txBody>
      </p:sp>
      <p:sp>
        <p:nvSpPr>
          <p:cNvPr id="18" name="Rectangle 17"/>
          <p:cNvSpPr/>
          <p:nvPr/>
        </p:nvSpPr>
        <p:spPr>
          <a:xfrm>
            <a:off x="786384" y="5380329"/>
            <a:ext cx="73152" cy="7315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298033"/>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Median 1.5 s per district on a laptop. No GPU, no GDAL, no build step.</a:t>
            </a:r>
          </a:p>
        </p:txBody>
      </p:sp>
      <p:sp>
        <p:nvSpPr>
          <p:cNvPr id="20" name="Rectangle 19"/>
          <p:cNvSpPr/>
          <p:nvPr/>
        </p:nvSpPr>
        <p:spPr>
          <a:xfrm>
            <a:off x="786384" y="6043574"/>
            <a:ext cx="73152" cy="7315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961278"/>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Runs fully offline: relief basemap rendered from our own elevation model.</a:t>
            </a:r>
          </a:p>
        </p:txBody>
      </p:sp>
      <p:sp>
        <p:nvSpPr>
          <p:cNvPr id="22" name="Rectangle 21"/>
          <p:cNvSpPr/>
          <p:nvPr/>
        </p:nvSpPr>
        <p:spPr>
          <a:xfrm>
            <a:off x="4338218" y="2084831"/>
            <a:ext cx="3515258" cy="4612843"/>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5962" y="2340864"/>
            <a:ext cx="146304" cy="146304"/>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1138" y="2304288"/>
            <a:ext cx="2783738" cy="274320"/>
          </a:xfrm>
          <a:prstGeom prst="rect">
            <a:avLst/>
          </a:prstGeom>
          <a:noFill/>
        </p:spPr>
        <p:txBody>
          <a:bodyPr wrap="square" lIns="0" rIns="0" tIns="0" bIns="0" anchor="t">
            <a:spAutoFit/>
          </a:bodyPr>
          <a:lstStyle/>
          <a:p>
            <a:pPr algn="l">
              <a:lnSpc>
                <a:spcPct val="116000"/>
              </a:lnSpc>
              <a:spcAft>
                <a:spcPts val="0"/>
              </a:spcAft>
            </a:pPr>
            <a:r>
              <a:rPr sz="1050" b="1">
                <a:solidFill>
                  <a:srgbClr val="C4362C"/>
                </a:solidFill>
                <a:latin typeface="Calibri"/>
              </a:rPr>
              <a:t>RISKS</a:t>
            </a:r>
          </a:p>
        </p:txBody>
      </p:sp>
      <p:sp>
        <p:nvSpPr>
          <p:cNvPr id="25" name="Rectangle 24"/>
          <p:cNvSpPr/>
          <p:nvPr/>
        </p:nvSpPr>
        <p:spPr>
          <a:xfrm>
            <a:off x="4575962" y="2807208"/>
            <a:ext cx="73152" cy="73152"/>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95418" y="2724912"/>
            <a:ext cx="2802026" cy="583387"/>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Lithology and structure need a Geological Survey of India map; two of six BIS LHEF factors are held neutral without it.</a:t>
            </a:r>
          </a:p>
        </p:txBody>
      </p:sp>
      <p:sp>
        <p:nvSpPr>
          <p:cNvPr id="27" name="Rectangle 26"/>
          <p:cNvSpPr/>
          <p:nvPr/>
        </p:nvSpPr>
        <p:spPr>
          <a:xfrm>
            <a:off x="4575962" y="3664915"/>
            <a:ext cx="73152" cy="73152"/>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95418" y="3582619"/>
            <a:ext cx="2802026" cy="583387"/>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HAND assumes a level water surface and cannot see embankments finer than the DEM — the largest source of extent error.</a:t>
            </a:r>
          </a:p>
        </p:txBody>
      </p:sp>
      <p:sp>
        <p:nvSpPr>
          <p:cNvPr id="29" name="Rectangle 28"/>
          <p:cNvSpPr/>
          <p:nvPr/>
        </p:nvSpPr>
        <p:spPr>
          <a:xfrm>
            <a:off x="4575962" y="4522622"/>
            <a:ext cx="73152" cy="73152"/>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95418" y="4440326"/>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Population is a Census 2011 projection, not a live count.</a:t>
            </a:r>
          </a:p>
        </p:txBody>
      </p:sp>
      <p:sp>
        <p:nvSpPr>
          <p:cNvPr id="31" name="Rectangle 30"/>
          <p:cNvSpPr/>
          <p:nvPr/>
        </p:nvSpPr>
        <p:spPr>
          <a:xfrm>
            <a:off x="4575962" y="5185867"/>
            <a:ext cx="73152" cy="73152"/>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95418" y="5103571"/>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Erosion retreat over decades is sub-pixel at 160 m resolution.</a:t>
            </a:r>
          </a:p>
        </p:txBody>
      </p:sp>
      <p:sp>
        <p:nvSpPr>
          <p:cNvPr id="33" name="Rectangle 32"/>
          <p:cNvSpPr/>
          <p:nvPr/>
        </p:nvSpPr>
        <p:spPr>
          <a:xfrm>
            <a:off x="4575962" y="5849112"/>
            <a:ext cx="73152" cy="73152"/>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95418" y="5766816"/>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Demo-mode input rasters are modelled, not observed.</a:t>
            </a:r>
          </a:p>
        </p:txBody>
      </p:sp>
      <p:sp>
        <p:nvSpPr>
          <p:cNvPr id="35" name="Rectangle 34"/>
          <p:cNvSpPr/>
          <p:nvPr/>
        </p:nvSpPr>
        <p:spPr>
          <a:xfrm>
            <a:off x="8127796" y="2084831"/>
            <a:ext cx="3515258" cy="4612843"/>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65540" y="2340864"/>
            <a:ext cx="146304" cy="146304"/>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30716" y="2304288"/>
            <a:ext cx="2783738" cy="274320"/>
          </a:xfrm>
          <a:prstGeom prst="rect">
            <a:avLst/>
          </a:prstGeom>
          <a:noFill/>
        </p:spPr>
        <p:txBody>
          <a:bodyPr wrap="square" lIns="0" rIns="0" tIns="0" bIns="0" anchor="t">
            <a:spAutoFit/>
          </a:bodyPr>
          <a:lstStyle/>
          <a:p>
            <a:pPr algn="l">
              <a:lnSpc>
                <a:spcPct val="116000"/>
              </a:lnSpc>
              <a:spcAft>
                <a:spcPts val="0"/>
              </a:spcAft>
            </a:pPr>
            <a:r>
              <a:rPr sz="1050" b="1">
                <a:solidFill>
                  <a:srgbClr val="E07B39"/>
                </a:solidFill>
                <a:latin typeface="Calibri"/>
              </a:rPr>
              <a:t>MITIGATION</a:t>
            </a:r>
          </a:p>
        </p:txBody>
      </p:sp>
      <p:sp>
        <p:nvSpPr>
          <p:cNvPr id="38" name="Rectangle 37"/>
          <p:cNvSpPr/>
          <p:nvPr/>
        </p:nvSpPr>
        <p:spPr>
          <a:xfrm>
            <a:off x="8365540" y="2807208"/>
            <a:ext cx="73152" cy="73152"/>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84996" y="2724912"/>
            <a:ext cx="2802026" cy="583387"/>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Geology raster loads through a documented interface and promotes the assessment to a complete LHEF rating.</a:t>
            </a:r>
          </a:p>
        </p:txBody>
      </p:sp>
      <p:sp>
        <p:nvSpPr>
          <p:cNvPr id="40" name="Rectangle 39"/>
          <p:cNvSpPr/>
          <p:nvPr/>
        </p:nvSpPr>
        <p:spPr>
          <a:xfrm>
            <a:off x="8365540" y="3664915"/>
            <a:ext cx="73152" cy="73152"/>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84996" y="3582619"/>
            <a:ext cx="2802026" cy="583387"/>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Embankment barriers enter as a mask once digitised; the limitation is published rather than hidden.</a:t>
            </a:r>
          </a:p>
        </p:txBody>
      </p:sp>
      <p:sp>
        <p:nvSpPr>
          <p:cNvPr id="42" name="Rectangle 41"/>
          <p:cNvSpPr/>
          <p:nvPr/>
        </p:nvSpPr>
        <p:spPr>
          <a:xfrm>
            <a:off x="8365540" y="4522622"/>
            <a:ext cx="73152" cy="73152"/>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84996" y="4440326"/>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WorldPop and real boundaries drop in without touching any model.</a:t>
            </a:r>
          </a:p>
        </p:txBody>
      </p:sp>
      <p:sp>
        <p:nvSpPr>
          <p:cNvPr id="44" name="Rectangle 43"/>
          <p:cNvSpPr/>
          <p:nvPr/>
        </p:nvSpPr>
        <p:spPr>
          <a:xfrm>
            <a:off x="8365540" y="5185867"/>
            <a:ext cx="73152" cy="73152"/>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84996" y="5103571"/>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Retreat RATE is reported as the meaningful output; area is flagged as resolution-limited.</a:t>
            </a:r>
          </a:p>
        </p:txBody>
      </p:sp>
      <p:sp>
        <p:nvSpPr>
          <p:cNvPr id="46" name="Rectangle 45"/>
          <p:cNvSpPr/>
          <p:nvPr/>
        </p:nvSpPr>
        <p:spPr>
          <a:xfrm>
            <a:off x="8365540" y="5849112"/>
            <a:ext cx="73152" cy="73152"/>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84996" y="5766816"/>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Permanent provenance badge on every screen and in every API response.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DF2F6"/>
        </a:solidFill>
        <a:effectLst/>
      </p:bgPr>
    </p:bg>
    <p:spTree>
      <p:nvGrpSpPr>
        <p:cNvPr id="1" name=""/>
        <p:cNvGrpSpPr/>
        <p:nvPr/>
      </p:nvGrpSpPr>
      <p:grpSpPr/>
      <p:sp>
        <p:nvSpPr>
          <p:cNvPr id="2" name="Rectangle 1"/>
          <p:cNvSpPr/>
          <p:nvPr/>
        </p:nvSpPr>
        <p:spPr>
          <a:xfrm>
            <a:off x="548640" y="493776"/>
            <a:ext cx="123444" cy="12344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04088" y="493776"/>
            <a:ext cx="123444" cy="123444"/>
          </a:xfrm>
          <a:prstGeom prst="rect">
            <a:avLst/>
          </a:prstGeom>
          <a:solidFill>
            <a:srgbClr val="E3B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9224"/>
            <a:ext cx="123444" cy="123444"/>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9224"/>
            <a:ext cx="123444" cy="123444"/>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475488"/>
            <a:ext cx="7863840" cy="274320"/>
          </a:xfrm>
          <a:prstGeom prst="rect">
            <a:avLst/>
          </a:prstGeom>
          <a:noFill/>
        </p:spPr>
        <p:txBody>
          <a:bodyPr wrap="square" lIns="0" rIns="0" tIns="0" bIns="0" anchor="t">
            <a:spAutoFit/>
          </a:bodyPr>
          <a:lstStyle/>
          <a:p>
            <a:pPr algn="l">
              <a:lnSpc>
                <a:spcPct val="116000"/>
              </a:lnSpc>
              <a:spcAft>
                <a:spcPts val="0"/>
              </a:spcAft>
            </a:pPr>
            <a:r>
              <a:rPr sz="1150" b="1">
                <a:solidFill>
                  <a:srgbClr val="E07B39"/>
                </a:solidFill>
                <a:latin typeface="Calibri"/>
              </a:rPr>
              <a:t>IMPACT AND BENEFITS</a:t>
            </a:r>
          </a:p>
        </p:txBody>
      </p:sp>
      <p:sp>
        <p:nvSpPr>
          <p:cNvPr id="7" name="TextBox 6"/>
          <p:cNvSpPr txBox="1"/>
          <p:nvPr/>
        </p:nvSpPr>
        <p:spPr>
          <a:xfrm>
            <a:off x="548640" y="868680"/>
            <a:ext cx="9509760" cy="640080"/>
          </a:xfrm>
          <a:prstGeom prst="rect">
            <a:avLst/>
          </a:prstGeom>
          <a:noFill/>
        </p:spPr>
        <p:txBody>
          <a:bodyPr wrap="square" lIns="0" rIns="0" tIns="0" bIns="0" anchor="t">
            <a:spAutoFit/>
          </a:bodyPr>
          <a:lstStyle/>
          <a:p>
            <a:pPr algn="l">
              <a:lnSpc>
                <a:spcPct val="116000"/>
              </a:lnSpc>
              <a:spcAft>
                <a:spcPts val="0"/>
              </a:spcAft>
            </a:pPr>
            <a:r>
              <a:rPr sz="3000" b="1">
                <a:solidFill>
                  <a:srgbClr val="0B1B2B"/>
                </a:solidFill>
                <a:latin typeface="Cambria"/>
              </a:rPr>
              <a:t>Who it serves, and what changes</a:t>
            </a:r>
          </a:p>
        </p:txBody>
      </p:sp>
      <p:sp>
        <p:nvSpPr>
          <p:cNvPr id="8" name="TextBox 7"/>
          <p:cNvSpPr txBox="1"/>
          <p:nvPr/>
        </p:nvSpPr>
        <p:spPr>
          <a:xfrm>
            <a:off x="548640" y="1481328"/>
            <a:ext cx="10607040" cy="384048"/>
          </a:xfrm>
          <a:prstGeom prst="rect">
            <a:avLst/>
          </a:prstGeom>
          <a:noFill/>
        </p:spPr>
        <p:txBody>
          <a:bodyPr wrap="square" lIns="0" rIns="0" tIns="0" bIns="0" anchor="t">
            <a:spAutoFit/>
          </a:bodyPr>
          <a:lstStyle/>
          <a:p>
            <a:pPr algn="l">
              <a:lnSpc>
                <a:spcPct val="116000"/>
              </a:lnSpc>
              <a:spcAft>
                <a:spcPts val="0"/>
              </a:spcAft>
            </a:pPr>
            <a:r>
              <a:rPr sz="1350" b="0">
                <a:solidFill>
                  <a:srgbClr val="5A7186"/>
                </a:solidFill>
                <a:latin typeface="Calibri"/>
              </a:rPr>
              <a:t>Primary user: State Disaster Management Authorities and District Magistrates planning proactive relocation.</a:t>
            </a:r>
          </a:p>
        </p:txBody>
      </p:sp>
      <p:sp>
        <p:nvSpPr>
          <p:cNvPr id="9" name="Rectangle 8"/>
          <p:cNvSpPr/>
          <p:nvPr/>
        </p:nvSpPr>
        <p:spPr>
          <a:xfrm>
            <a:off x="548640" y="2084831"/>
            <a:ext cx="2595295" cy="1389888"/>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249424"/>
            <a:ext cx="2156383" cy="502920"/>
          </a:xfrm>
          <a:prstGeom prst="rect">
            <a:avLst/>
          </a:prstGeom>
          <a:noFill/>
        </p:spPr>
        <p:txBody>
          <a:bodyPr wrap="square" lIns="0" rIns="0" tIns="0" bIns="0" anchor="t">
            <a:spAutoFit/>
          </a:bodyPr>
          <a:lstStyle/>
          <a:p>
            <a:pPr algn="l">
              <a:lnSpc>
                <a:spcPct val="116000"/>
              </a:lnSpc>
              <a:spcAft>
                <a:spcPts val="0"/>
              </a:spcAft>
            </a:pPr>
            <a:r>
              <a:rPr sz="2700" b="1">
                <a:solidFill>
                  <a:srgbClr val="0B1B2B"/>
                </a:solidFill>
                <a:latin typeface="Cambria"/>
              </a:rPr>
              <a:t>946 km²</a:t>
            </a:r>
          </a:p>
        </p:txBody>
      </p:sp>
      <p:sp>
        <p:nvSpPr>
          <p:cNvPr id="11" name="TextBox 10"/>
          <p:cNvSpPr txBox="1"/>
          <p:nvPr/>
        </p:nvSpPr>
        <p:spPr>
          <a:xfrm>
            <a:off x="768096" y="2761488"/>
            <a:ext cx="2156383" cy="54864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of Darbhanga modelled as Red Zone
— 42% of the district</a:t>
            </a:r>
          </a:p>
        </p:txBody>
      </p:sp>
      <p:sp>
        <p:nvSpPr>
          <p:cNvPr id="12" name="Rectangle 11"/>
          <p:cNvSpPr/>
          <p:nvPr/>
        </p:nvSpPr>
        <p:spPr>
          <a:xfrm>
            <a:off x="3381679" y="2084831"/>
            <a:ext cx="2595295" cy="1389888"/>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1135" y="2249424"/>
            <a:ext cx="2156383" cy="502920"/>
          </a:xfrm>
          <a:prstGeom prst="rect">
            <a:avLst/>
          </a:prstGeom>
          <a:noFill/>
        </p:spPr>
        <p:txBody>
          <a:bodyPr wrap="square" lIns="0" rIns="0" tIns="0" bIns="0" anchor="t">
            <a:spAutoFit/>
          </a:bodyPr>
          <a:lstStyle/>
          <a:p>
            <a:pPr algn="l">
              <a:lnSpc>
                <a:spcPct val="116000"/>
              </a:lnSpc>
              <a:spcAft>
                <a:spcPts val="0"/>
              </a:spcAft>
            </a:pPr>
            <a:r>
              <a:rPr sz="2700" b="1">
                <a:solidFill>
                  <a:srgbClr val="0B1B2B"/>
                </a:solidFill>
                <a:latin typeface="Cambria"/>
              </a:rPr>
              <a:t>every 5 yr</a:t>
            </a:r>
          </a:p>
        </p:txBody>
      </p:sp>
      <p:sp>
        <p:nvSpPr>
          <p:cNvPr id="14" name="TextBox 13"/>
          <p:cNvSpPr txBox="1"/>
          <p:nvPr/>
        </p:nvSpPr>
        <p:spPr>
          <a:xfrm>
            <a:off x="3601135" y="2761488"/>
            <a:ext cx="2156383" cy="54864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the interval at which the worst
habitations become unliveable</a:t>
            </a:r>
          </a:p>
        </p:txBody>
      </p:sp>
      <p:sp>
        <p:nvSpPr>
          <p:cNvPr id="15" name="Rectangle 14"/>
          <p:cNvSpPr/>
          <p:nvPr/>
        </p:nvSpPr>
        <p:spPr>
          <a:xfrm>
            <a:off x="6214719" y="2084831"/>
            <a:ext cx="2595295" cy="1389888"/>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4175" y="2249424"/>
            <a:ext cx="2156383" cy="502920"/>
          </a:xfrm>
          <a:prstGeom prst="rect">
            <a:avLst/>
          </a:prstGeom>
          <a:noFill/>
        </p:spPr>
        <p:txBody>
          <a:bodyPr wrap="square" lIns="0" rIns="0" tIns="0" bIns="0" anchor="t">
            <a:spAutoFit/>
          </a:bodyPr>
          <a:lstStyle/>
          <a:p>
            <a:pPr algn="l">
              <a:lnSpc>
                <a:spcPct val="116000"/>
              </a:lnSpc>
              <a:spcAft>
                <a:spcPts val="0"/>
              </a:spcAft>
            </a:pPr>
            <a:r>
              <a:rPr sz="2700" b="1">
                <a:solidFill>
                  <a:srgbClr val="0B1B2B"/>
                </a:solidFill>
                <a:latin typeface="Cambria"/>
              </a:rPr>
              <a:t>4</a:t>
            </a:r>
          </a:p>
        </p:txBody>
      </p:sp>
      <p:sp>
        <p:nvSpPr>
          <p:cNvPr id="17" name="TextBox 16"/>
          <p:cNvSpPr txBox="1"/>
          <p:nvPr/>
        </p:nvSpPr>
        <p:spPr>
          <a:xfrm>
            <a:off x="6434175" y="2761488"/>
            <a:ext cx="2156383" cy="54864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hazards assessed together:
flood, landslide, waterlog, erosion</a:t>
            </a:r>
          </a:p>
        </p:txBody>
      </p:sp>
      <p:sp>
        <p:nvSpPr>
          <p:cNvPr id="18" name="Rectangle 17"/>
          <p:cNvSpPr/>
          <p:nvPr/>
        </p:nvSpPr>
        <p:spPr>
          <a:xfrm>
            <a:off x="9047759" y="2084831"/>
            <a:ext cx="2595295" cy="1389888"/>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67215" y="2249424"/>
            <a:ext cx="2156383" cy="502920"/>
          </a:xfrm>
          <a:prstGeom prst="rect">
            <a:avLst/>
          </a:prstGeom>
          <a:noFill/>
        </p:spPr>
        <p:txBody>
          <a:bodyPr wrap="square" lIns="0" rIns="0" tIns="0" bIns="0" anchor="t">
            <a:spAutoFit/>
          </a:bodyPr>
          <a:lstStyle/>
          <a:p>
            <a:pPr algn="l">
              <a:lnSpc>
                <a:spcPct val="116000"/>
              </a:lnSpc>
              <a:spcAft>
                <a:spcPts val="0"/>
              </a:spcAft>
            </a:pPr>
            <a:r>
              <a:rPr sz="2700" b="1">
                <a:solidFill>
                  <a:srgbClr val="0B1B2B"/>
                </a:solidFill>
                <a:latin typeface="Cambria"/>
              </a:rPr>
              <a:t>19%</a:t>
            </a:r>
          </a:p>
        </p:txBody>
      </p:sp>
      <p:sp>
        <p:nvSpPr>
          <p:cNvPr id="20" name="TextBox 19"/>
          <p:cNvSpPr txBox="1"/>
          <p:nvPr/>
        </p:nvSpPr>
        <p:spPr>
          <a:xfrm>
            <a:off x="9267215" y="2761488"/>
            <a:ext cx="2156383" cy="54864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of at-risk people placeable at
assembled sites — the real gap</a:t>
            </a:r>
          </a:p>
        </p:txBody>
      </p:sp>
      <p:sp>
        <p:nvSpPr>
          <p:cNvPr id="21" name="Rectangle 20"/>
          <p:cNvSpPr/>
          <p:nvPr/>
        </p:nvSpPr>
        <p:spPr>
          <a:xfrm>
            <a:off x="548640" y="3712463"/>
            <a:ext cx="11094415" cy="768096"/>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86384" y="3977639"/>
            <a:ext cx="128016" cy="128016"/>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4128" y="3922776"/>
            <a:ext cx="2377440" cy="274320"/>
          </a:xfrm>
          <a:prstGeom prst="rect">
            <a:avLst/>
          </a:prstGeom>
          <a:noFill/>
        </p:spPr>
        <p:txBody>
          <a:bodyPr wrap="square" lIns="0" rIns="0" tIns="0" bIns="0" anchor="t">
            <a:spAutoFit/>
          </a:bodyPr>
          <a:lstStyle/>
          <a:p>
            <a:pPr algn="l">
              <a:lnSpc>
                <a:spcPct val="116000"/>
              </a:lnSpc>
              <a:spcAft>
                <a:spcPts val="0"/>
              </a:spcAft>
            </a:pPr>
            <a:r>
              <a:rPr sz="1050" b="1">
                <a:solidFill>
                  <a:srgbClr val="2E8B57"/>
                </a:solidFill>
                <a:latin typeface="Calibri"/>
              </a:rPr>
              <a:t>SOCIAL</a:t>
            </a:r>
          </a:p>
        </p:txBody>
      </p:sp>
      <p:sp>
        <p:nvSpPr>
          <p:cNvPr id="24" name="TextBox 23"/>
          <p:cNvSpPr txBox="1"/>
          <p:nvPr/>
        </p:nvSpPr>
        <p:spPr>
          <a:xfrm>
            <a:off x="3383280" y="3867911"/>
            <a:ext cx="7985455"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Relocation becomes proactive and evidence-based instead of a response to the last disaster. Households are ranked by how many people are exposed and how often, so scarce resettlement funding reaches the villages that flood every fifth year rather than the loudest ones.</a:t>
            </a:r>
          </a:p>
        </p:txBody>
      </p:sp>
      <p:sp>
        <p:nvSpPr>
          <p:cNvPr id="25" name="Rectangle 24"/>
          <p:cNvSpPr/>
          <p:nvPr/>
        </p:nvSpPr>
        <p:spPr>
          <a:xfrm>
            <a:off x="548640" y="4572000"/>
            <a:ext cx="11094415" cy="768096"/>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6384" y="4837176"/>
            <a:ext cx="128016" cy="128016"/>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 y="4782312"/>
            <a:ext cx="2377440" cy="274320"/>
          </a:xfrm>
          <a:prstGeom prst="rect">
            <a:avLst/>
          </a:prstGeom>
          <a:noFill/>
        </p:spPr>
        <p:txBody>
          <a:bodyPr wrap="square" lIns="0" rIns="0" tIns="0" bIns="0" anchor="t">
            <a:spAutoFit/>
          </a:bodyPr>
          <a:lstStyle/>
          <a:p>
            <a:pPr algn="l">
              <a:lnSpc>
                <a:spcPct val="116000"/>
              </a:lnSpc>
              <a:spcAft>
                <a:spcPts val="0"/>
              </a:spcAft>
            </a:pPr>
            <a:r>
              <a:rPr sz="1050" b="1">
                <a:solidFill>
                  <a:srgbClr val="E07B39"/>
                </a:solidFill>
                <a:latin typeface="Calibri"/>
              </a:rPr>
              <a:t>ECONOMIC</a:t>
            </a:r>
          </a:p>
        </p:txBody>
      </p:sp>
      <p:sp>
        <p:nvSpPr>
          <p:cNvPr id="28" name="TextBox 27"/>
          <p:cNvSpPr txBox="1"/>
          <p:nvPr/>
        </p:nvSpPr>
        <p:spPr>
          <a:xfrm>
            <a:off x="3383280" y="4727448"/>
            <a:ext cx="7985455"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Ends the cycle of rebuilding the same assets in the same hazard zone. Identifies whether a district's binding constraint is land or site assembly — a distinction that changes whether the answer is acquisition, densification, or an inter-district decision.</a:t>
            </a:r>
          </a:p>
        </p:txBody>
      </p:sp>
      <p:sp>
        <p:nvSpPr>
          <p:cNvPr id="29" name="Rectangle 28"/>
          <p:cNvSpPr/>
          <p:nvPr/>
        </p:nvSpPr>
        <p:spPr>
          <a:xfrm>
            <a:off x="548640" y="5431536"/>
            <a:ext cx="11094415" cy="768096"/>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86384" y="5696712"/>
            <a:ext cx="128016" cy="128016"/>
          </a:xfrm>
          <a:prstGeom prst="rect">
            <a:avLst/>
          </a:prstGeom>
          <a:solidFill>
            <a:srgbClr val="244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4128" y="5641848"/>
            <a:ext cx="2377440" cy="274320"/>
          </a:xfrm>
          <a:prstGeom prst="rect">
            <a:avLst/>
          </a:prstGeom>
          <a:noFill/>
        </p:spPr>
        <p:txBody>
          <a:bodyPr wrap="square" lIns="0" rIns="0" tIns="0" bIns="0" anchor="t">
            <a:spAutoFit/>
          </a:bodyPr>
          <a:lstStyle/>
          <a:p>
            <a:pPr algn="l">
              <a:lnSpc>
                <a:spcPct val="116000"/>
              </a:lnSpc>
              <a:spcAft>
                <a:spcPts val="0"/>
              </a:spcAft>
            </a:pPr>
            <a:r>
              <a:rPr sz="1050" b="1">
                <a:solidFill>
                  <a:srgbClr val="24485F"/>
                </a:solidFill>
                <a:latin typeface="Calibri"/>
              </a:rPr>
              <a:t>GOVERNANCE</a:t>
            </a:r>
          </a:p>
        </p:txBody>
      </p:sp>
      <p:sp>
        <p:nvSpPr>
          <p:cNvPr id="32" name="TextBox 31"/>
          <p:cNvSpPr txBox="1"/>
          <p:nvPr/>
        </p:nvSpPr>
        <p:spPr>
          <a:xfrm>
            <a:off x="3383280" y="5586983"/>
            <a:ext cx="7985455"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Every ranking publishes its weights and every hazard cites its standard, so a relocation order can be defended in an inquiry. The system states what it does not know — two BIS factors unmapped, population projected — rather than presenting an estimate as fact.</a:t>
            </a:r>
          </a:p>
        </p:txBody>
      </p:sp>
      <p:sp>
        <p:nvSpPr>
          <p:cNvPr id="33" name="TextBox 32"/>
          <p:cNvSpPr txBox="1"/>
          <p:nvPr/>
        </p:nvSpPr>
        <p:spPr>
          <a:xfrm>
            <a:off x="548640" y="6345936"/>
            <a:ext cx="960120" cy="219456"/>
          </a:xfrm>
          <a:prstGeom prst="rect">
            <a:avLst/>
          </a:prstGeom>
          <a:noFill/>
        </p:spPr>
        <p:txBody>
          <a:bodyPr wrap="square" lIns="0" rIns="0" tIns="0" bIns="0" anchor="t">
            <a:spAutoFit/>
          </a:bodyPr>
          <a:lstStyle/>
          <a:p>
            <a:pPr algn="l">
              <a:lnSpc>
                <a:spcPct val="116000"/>
              </a:lnSpc>
              <a:spcAft>
                <a:spcPts val="0"/>
              </a:spcAft>
            </a:pPr>
            <a:r>
              <a:rPr sz="950" b="1">
                <a:solidFill>
                  <a:srgbClr val="E07B39"/>
                </a:solidFill>
                <a:latin typeface="Calibri"/>
              </a:rPr>
              <a:t>ROADMAP</a:t>
            </a:r>
          </a:p>
        </p:txBody>
      </p:sp>
      <p:sp>
        <p:nvSpPr>
          <p:cNvPr id="34" name="TextBox 33"/>
          <p:cNvSpPr txBox="1"/>
          <p:nvPr/>
        </p:nvSpPr>
        <p:spPr>
          <a:xfrm>
            <a:off x="1481328" y="6345936"/>
            <a:ext cx="10161727" cy="219456"/>
          </a:xfrm>
          <a:prstGeom prst="rect">
            <a:avLst/>
          </a:prstGeom>
          <a:noFill/>
        </p:spPr>
        <p:txBody>
          <a:bodyPr wrap="square" lIns="0" rIns="0" tIns="0" bIns="0" anchor="t">
            <a:spAutoFit/>
          </a:bodyPr>
          <a:lstStyle/>
          <a:p>
            <a:pPr algn="l">
              <a:lnSpc>
                <a:spcPct val="116000"/>
              </a:lnSpc>
              <a:spcAft>
                <a:spcPts val="0"/>
              </a:spcAft>
            </a:pPr>
            <a:r>
              <a:rPr sz="950" b="0">
                <a:solidFill>
                  <a:srgbClr val="5A7186"/>
                </a:solidFill>
                <a:latin typeface="Calibri"/>
              </a:rPr>
              <a:t>NOW  built and tested   ·   P2  GSI lithology + Census housing   ·   P3  CWC gauges, promote screened districts   ·   P4  citizen (IVR + LGD) as ground truth   ·   P5  short code + Sachet CAP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Rectangle 1"/>
          <p:cNvSpPr/>
          <p:nvPr/>
        </p:nvSpPr>
        <p:spPr>
          <a:xfrm>
            <a:off x="548640" y="512064"/>
            <a:ext cx="137160" cy="13716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22376" y="512064"/>
            <a:ext cx="137160" cy="137160"/>
          </a:xfrm>
          <a:prstGeom prst="rect">
            <a:avLst/>
          </a:prstGeom>
          <a:solidFill>
            <a:srgbClr val="E3B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85800"/>
            <a:ext cx="137160" cy="137160"/>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22376" y="685800"/>
            <a:ext cx="137160" cy="137160"/>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9264" y="493776"/>
            <a:ext cx="7863840" cy="274320"/>
          </a:xfrm>
          <a:prstGeom prst="rect">
            <a:avLst/>
          </a:prstGeom>
          <a:noFill/>
        </p:spPr>
        <p:txBody>
          <a:bodyPr wrap="square" lIns="0" rIns="0" tIns="0" bIns="0" anchor="t">
            <a:spAutoFit/>
          </a:bodyPr>
          <a:lstStyle/>
          <a:p>
            <a:pPr algn="l">
              <a:lnSpc>
                <a:spcPct val="116000"/>
              </a:lnSpc>
              <a:spcAft>
                <a:spcPts val="0"/>
              </a:spcAft>
            </a:pPr>
            <a:r>
              <a:rPr sz="1150" b="1">
                <a:solidFill>
                  <a:srgbClr val="E07B39"/>
                </a:solidFill>
                <a:latin typeface="Calibri"/>
              </a:rPr>
              <a:t>RESEARCH AND REFERENCES</a:t>
            </a:r>
          </a:p>
        </p:txBody>
      </p:sp>
      <p:sp>
        <p:nvSpPr>
          <p:cNvPr id="7" name="TextBox 6"/>
          <p:cNvSpPr txBox="1"/>
          <p:nvPr/>
        </p:nvSpPr>
        <p:spPr>
          <a:xfrm>
            <a:off x="548640" y="896112"/>
            <a:ext cx="9509760" cy="548640"/>
          </a:xfrm>
          <a:prstGeom prst="rect">
            <a:avLst/>
          </a:prstGeom>
          <a:noFill/>
        </p:spPr>
        <p:txBody>
          <a:bodyPr wrap="square" lIns="0" rIns="0" tIns="0" bIns="0" anchor="t">
            <a:spAutoFit/>
          </a:bodyPr>
          <a:lstStyle/>
          <a:p>
            <a:pPr algn="l">
              <a:lnSpc>
                <a:spcPct val="116000"/>
              </a:lnSpc>
              <a:spcAft>
                <a:spcPts val="0"/>
              </a:spcAft>
            </a:pPr>
            <a:r>
              <a:rPr sz="2900" b="1">
                <a:solidFill>
                  <a:srgbClr val="FFFFFF"/>
                </a:solidFill>
                <a:latin typeface="Cambria"/>
              </a:rPr>
              <a:t>Every step traces to a published method</a:t>
            </a:r>
          </a:p>
        </p:txBody>
      </p:sp>
      <p:sp>
        <p:nvSpPr>
          <p:cNvPr id="8" name="TextBox 7"/>
          <p:cNvSpPr txBox="1"/>
          <p:nvPr/>
        </p:nvSpPr>
        <p:spPr>
          <a:xfrm>
            <a:off x="548640" y="1481328"/>
            <a:ext cx="10607040" cy="365760"/>
          </a:xfrm>
          <a:prstGeom prst="rect">
            <a:avLst/>
          </a:prstGeom>
          <a:noFill/>
        </p:spPr>
        <p:txBody>
          <a:bodyPr wrap="square" lIns="0" rIns="0" tIns="0" bIns="0" anchor="t">
            <a:spAutoFit/>
          </a:bodyPr>
          <a:lstStyle/>
          <a:p>
            <a:pPr algn="l">
              <a:lnSpc>
                <a:spcPct val="116000"/>
              </a:lnSpc>
              <a:spcAft>
                <a:spcPts val="0"/>
              </a:spcAft>
            </a:pPr>
            <a:r>
              <a:rPr sz="1300" b="0">
                <a:solidFill>
                  <a:srgbClr val="9FB4C7"/>
                </a:solidFill>
                <a:latin typeface="Calibri"/>
              </a:rPr>
              <a:t>Nothing here is invented. Standards first, and Indian standards where they exist.</a:t>
            </a:r>
          </a:p>
        </p:txBody>
      </p:sp>
      <p:sp>
        <p:nvSpPr>
          <p:cNvPr id="9" name="Rectangle 8"/>
          <p:cNvSpPr/>
          <p:nvPr/>
        </p:nvSpPr>
        <p:spPr>
          <a:xfrm>
            <a:off x="548640" y="2103120"/>
            <a:ext cx="5623560" cy="4114800"/>
          </a:xfrm>
          <a:prstGeom prst="rect">
            <a:avLst/>
          </a:prstGeom>
          <a:solidFill>
            <a:srgbClr val="17324A"/>
          </a:solidFill>
          <a:ln w="9525">
            <a:solidFill>
              <a:srgbClr val="2448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31720"/>
            <a:ext cx="5074920" cy="274320"/>
          </a:xfrm>
          <a:prstGeom prst="rect">
            <a:avLst/>
          </a:prstGeom>
          <a:noFill/>
        </p:spPr>
        <p:txBody>
          <a:bodyPr wrap="square" lIns="0" rIns="0" tIns="0" bIns="0" anchor="t">
            <a:spAutoFit/>
          </a:bodyPr>
          <a:lstStyle/>
          <a:p>
            <a:pPr algn="l">
              <a:lnSpc>
                <a:spcPct val="116000"/>
              </a:lnSpc>
              <a:spcAft>
                <a:spcPts val="0"/>
              </a:spcAft>
            </a:pPr>
            <a:r>
              <a:rPr sz="1000" b="1">
                <a:solidFill>
                  <a:srgbClr val="E07B39"/>
                </a:solidFill>
                <a:latin typeface="Calibri"/>
              </a:rPr>
              <a:t>STANDARDS AND LITERATURE</a:t>
            </a:r>
          </a:p>
        </p:txBody>
      </p:sp>
      <p:sp>
        <p:nvSpPr>
          <p:cNvPr id="11" name="Rectangle 10"/>
          <p:cNvSpPr/>
          <p:nvPr/>
        </p:nvSpPr>
        <p:spPr>
          <a:xfrm>
            <a:off x="822959" y="2706624"/>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633472"/>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BIS IS 14496 (Part 2): 1998 — Landslide Hazard Zonation, LHEF scheme.</a:t>
            </a:r>
          </a:p>
        </p:txBody>
      </p:sp>
      <p:sp>
        <p:nvSpPr>
          <p:cNvPr id="13" name="Rectangle 12"/>
          <p:cNvSpPr/>
          <p:nvPr/>
        </p:nvSpPr>
        <p:spPr>
          <a:xfrm>
            <a:off x="822959" y="3020568"/>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2947416"/>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NDMA. National Disaster Management Plan; Guidelines on Floods.</a:t>
            </a:r>
          </a:p>
        </p:txBody>
      </p:sp>
      <p:sp>
        <p:nvSpPr>
          <p:cNvPr id="15" name="Rectangle 14"/>
          <p:cNvSpPr/>
          <p:nvPr/>
        </p:nvSpPr>
        <p:spPr>
          <a:xfrm>
            <a:off x="822959" y="3334512"/>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3261360"/>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Caine, N. (1980). Rainfall intensity-duration control of shallow landslides.</a:t>
            </a:r>
          </a:p>
        </p:txBody>
      </p:sp>
      <p:sp>
        <p:nvSpPr>
          <p:cNvPr id="17" name="Rectangle 16"/>
          <p:cNvSpPr/>
          <p:nvPr/>
        </p:nvSpPr>
        <p:spPr>
          <a:xfrm>
            <a:off x="822959" y="3648456"/>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3575303"/>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Bruun, P. (1962). Sea level rise as a cause of shore erosion.</a:t>
            </a:r>
          </a:p>
        </p:txBody>
      </p:sp>
      <p:sp>
        <p:nvSpPr>
          <p:cNvPr id="19" name="Rectangle 18"/>
          <p:cNvSpPr/>
          <p:nvPr/>
        </p:nvSpPr>
        <p:spPr>
          <a:xfrm>
            <a:off x="822959" y="3962399"/>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3889248"/>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Renno (2008); Nobre et al. (2011). Height Above Nearest Drainage.</a:t>
            </a:r>
          </a:p>
        </p:txBody>
      </p:sp>
      <p:sp>
        <p:nvSpPr>
          <p:cNvPr id="21" name="Rectangle 20"/>
          <p:cNvSpPr/>
          <p:nvPr/>
        </p:nvSpPr>
        <p:spPr>
          <a:xfrm>
            <a:off x="822959" y="4276344"/>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4203192"/>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Beven &amp; Kirkby (1979). Variable contributing area model of basin hydrology.</a:t>
            </a:r>
          </a:p>
        </p:txBody>
      </p:sp>
      <p:sp>
        <p:nvSpPr>
          <p:cNvPr id="23" name="Rectangle 22"/>
          <p:cNvSpPr/>
          <p:nvPr/>
        </p:nvSpPr>
        <p:spPr>
          <a:xfrm>
            <a:off x="822959" y="4590288"/>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4128" y="4517136"/>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Wang &amp; Liu (2006). Efficient depression filling for flow routing.</a:t>
            </a:r>
          </a:p>
        </p:txBody>
      </p:sp>
      <p:sp>
        <p:nvSpPr>
          <p:cNvPr id="25" name="Rectangle 24"/>
          <p:cNvSpPr/>
          <p:nvPr/>
        </p:nvSpPr>
        <p:spPr>
          <a:xfrm>
            <a:off x="822959" y="4904232"/>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4128" y="4831080"/>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Garbrecht &amp; Martz (1997). Drainage direction over flat surfaces.</a:t>
            </a:r>
          </a:p>
        </p:txBody>
      </p:sp>
      <p:sp>
        <p:nvSpPr>
          <p:cNvPr id="27" name="Rectangle 26"/>
          <p:cNvSpPr/>
          <p:nvPr/>
        </p:nvSpPr>
        <p:spPr>
          <a:xfrm>
            <a:off x="822959" y="5218176"/>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4128" y="5145024"/>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Cohen et al. (2018). FwDET floodwater depth estimation.</a:t>
            </a:r>
          </a:p>
        </p:txBody>
      </p:sp>
      <p:sp>
        <p:nvSpPr>
          <p:cNvPr id="29" name="Rectangle 28"/>
          <p:cNvSpPr/>
          <p:nvPr/>
        </p:nvSpPr>
        <p:spPr>
          <a:xfrm>
            <a:off x="822959" y="5532120"/>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8" y="5458968"/>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Otsu (1979); Lee (1980). Thresholding and speckle suppression.</a:t>
            </a:r>
          </a:p>
        </p:txBody>
      </p:sp>
      <p:sp>
        <p:nvSpPr>
          <p:cNvPr id="31" name="Rectangle 30"/>
          <p:cNvSpPr/>
          <p:nvPr/>
        </p:nvSpPr>
        <p:spPr>
          <a:xfrm>
            <a:off x="822959" y="5846064"/>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 y="5772912"/>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Sphere Handbook. Shelter and settlement standards.</a:t>
            </a:r>
          </a:p>
        </p:txBody>
      </p:sp>
      <p:sp>
        <p:nvSpPr>
          <p:cNvPr id="33" name="Rectangle 32"/>
          <p:cNvSpPr/>
          <p:nvPr/>
        </p:nvSpPr>
        <p:spPr>
          <a:xfrm>
            <a:off x="6446520" y="2103120"/>
            <a:ext cx="5196535" cy="4114800"/>
          </a:xfrm>
          <a:prstGeom prst="rect">
            <a:avLst/>
          </a:prstGeom>
          <a:solidFill>
            <a:srgbClr val="17324A"/>
          </a:solidFill>
          <a:ln w="9525">
            <a:solidFill>
              <a:srgbClr val="2448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20840" y="2331720"/>
            <a:ext cx="4647895" cy="274320"/>
          </a:xfrm>
          <a:prstGeom prst="rect">
            <a:avLst/>
          </a:prstGeom>
          <a:noFill/>
        </p:spPr>
        <p:txBody>
          <a:bodyPr wrap="square" lIns="0" rIns="0" tIns="0" bIns="0" anchor="t">
            <a:spAutoFit/>
          </a:bodyPr>
          <a:lstStyle/>
          <a:p>
            <a:pPr algn="l">
              <a:lnSpc>
                <a:spcPct val="116000"/>
              </a:lnSpc>
              <a:spcAft>
                <a:spcPts val="0"/>
              </a:spcAft>
            </a:pPr>
            <a:r>
              <a:rPr sz="1000" b="1">
                <a:solidFill>
                  <a:srgbClr val="E07B39"/>
                </a:solidFill>
                <a:latin typeface="Calibri"/>
              </a:rPr>
              <a:t>DATA SOURCES</a:t>
            </a:r>
          </a:p>
        </p:txBody>
      </p:sp>
      <p:sp>
        <p:nvSpPr>
          <p:cNvPr id="35" name="Rectangle 34"/>
          <p:cNvSpPr/>
          <p:nvPr/>
        </p:nvSpPr>
        <p:spPr>
          <a:xfrm>
            <a:off x="6720840" y="2706624"/>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22008" y="2633472"/>
            <a:ext cx="4419295" cy="219456"/>
          </a:xfrm>
          <a:prstGeom prst="rect">
            <a:avLst/>
          </a:prstGeom>
          <a:noFill/>
        </p:spPr>
        <p:txBody>
          <a:bodyPr wrap="square" lIns="0" rIns="0" tIns="0" bIns="0" anchor="t">
            <a:spAutoFit/>
          </a:bodyPr>
          <a:lstStyle/>
          <a:p>
            <a:pPr algn="l">
              <a:lnSpc>
                <a:spcPct val="116000"/>
              </a:lnSpc>
              <a:spcAft>
                <a:spcPts val="0"/>
              </a:spcAft>
            </a:pPr>
            <a:r>
              <a:rPr sz="1050" b="1">
                <a:solidFill>
                  <a:srgbClr val="FFFFFF"/>
                </a:solidFill>
                <a:latin typeface="Calibri"/>
              </a:rPr>
              <a:t>Geological Survey of India</a:t>
            </a:r>
          </a:p>
        </p:txBody>
      </p:sp>
      <p:sp>
        <p:nvSpPr>
          <p:cNvPr id="37" name="TextBox 36"/>
          <p:cNvSpPr txBox="1"/>
          <p:nvPr/>
        </p:nvSpPr>
        <p:spPr>
          <a:xfrm>
            <a:off x="6922008" y="2834640"/>
            <a:ext cx="4419295" cy="167944"/>
          </a:xfrm>
          <a:prstGeom prst="rect">
            <a:avLst/>
          </a:prstGeom>
          <a:noFill/>
        </p:spPr>
        <p:txBody>
          <a:bodyPr wrap="square" lIns="0" rIns="0" tIns="0" bIns="0" anchor="t">
            <a:spAutoFit/>
          </a:bodyPr>
          <a:lstStyle/>
          <a:p>
            <a:pPr algn="l">
              <a:lnSpc>
                <a:spcPct val="116000"/>
              </a:lnSpc>
              <a:spcAft>
                <a:spcPts val="0"/>
              </a:spcAft>
            </a:pPr>
            <a:r>
              <a:rPr sz="950" b="0">
                <a:solidFill>
                  <a:srgbClr val="9FB4C7"/>
                </a:solidFill>
                <a:latin typeface="Calibri"/>
              </a:rPr>
              <a:t>Lithology and structure for complete LHEF rating</a:t>
            </a:r>
          </a:p>
        </p:txBody>
      </p:sp>
      <p:sp>
        <p:nvSpPr>
          <p:cNvPr id="38" name="Rectangle 37"/>
          <p:cNvSpPr/>
          <p:nvPr/>
        </p:nvSpPr>
        <p:spPr>
          <a:xfrm>
            <a:off x="6720840" y="3194608"/>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22008" y="3121456"/>
            <a:ext cx="4419295" cy="219456"/>
          </a:xfrm>
          <a:prstGeom prst="rect">
            <a:avLst/>
          </a:prstGeom>
          <a:noFill/>
        </p:spPr>
        <p:txBody>
          <a:bodyPr wrap="square" lIns="0" rIns="0" tIns="0" bIns="0" anchor="t">
            <a:spAutoFit/>
          </a:bodyPr>
          <a:lstStyle/>
          <a:p>
            <a:pPr algn="l">
              <a:lnSpc>
                <a:spcPct val="116000"/>
              </a:lnSpc>
              <a:spcAft>
                <a:spcPts val="0"/>
              </a:spcAft>
            </a:pPr>
            <a:r>
              <a:rPr sz="1050" b="1">
                <a:solidFill>
                  <a:srgbClr val="FFFFFF"/>
                </a:solidFill>
                <a:latin typeface="Calibri"/>
              </a:rPr>
              <a:t>ISRO Bhoonidhi / NRSC</a:t>
            </a:r>
          </a:p>
        </p:txBody>
      </p:sp>
      <p:sp>
        <p:nvSpPr>
          <p:cNvPr id="40" name="TextBox 39"/>
          <p:cNvSpPr txBox="1"/>
          <p:nvPr/>
        </p:nvSpPr>
        <p:spPr>
          <a:xfrm>
            <a:off x="6922008" y="3322624"/>
            <a:ext cx="4419295" cy="167944"/>
          </a:xfrm>
          <a:prstGeom prst="rect">
            <a:avLst/>
          </a:prstGeom>
          <a:noFill/>
        </p:spPr>
        <p:txBody>
          <a:bodyPr wrap="square" lIns="0" rIns="0" tIns="0" bIns="0" anchor="t">
            <a:spAutoFit/>
          </a:bodyPr>
          <a:lstStyle/>
          <a:p>
            <a:pPr algn="l">
              <a:lnSpc>
                <a:spcPct val="116000"/>
              </a:lnSpc>
              <a:spcAft>
                <a:spcPts val="0"/>
              </a:spcAft>
            </a:pPr>
            <a:r>
              <a:rPr sz="950" b="0">
                <a:solidFill>
                  <a:srgbClr val="9FB4C7"/>
                </a:solidFill>
                <a:latin typeface="Calibri"/>
              </a:rPr>
              <a:t>bhoonidhi.nrsc.gov.in — CartoDEM, Resourcesat, EOS-04</a:t>
            </a:r>
          </a:p>
        </p:txBody>
      </p:sp>
      <p:sp>
        <p:nvSpPr>
          <p:cNvPr id="41" name="Rectangle 40"/>
          <p:cNvSpPr/>
          <p:nvPr/>
        </p:nvSpPr>
        <p:spPr>
          <a:xfrm>
            <a:off x="6720840" y="3682593"/>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22008" y="3609441"/>
            <a:ext cx="4419295" cy="219456"/>
          </a:xfrm>
          <a:prstGeom prst="rect">
            <a:avLst/>
          </a:prstGeom>
          <a:noFill/>
        </p:spPr>
        <p:txBody>
          <a:bodyPr wrap="square" lIns="0" rIns="0" tIns="0" bIns="0" anchor="t">
            <a:spAutoFit/>
          </a:bodyPr>
          <a:lstStyle/>
          <a:p>
            <a:pPr algn="l">
              <a:lnSpc>
                <a:spcPct val="116000"/>
              </a:lnSpc>
              <a:spcAft>
                <a:spcPts val="0"/>
              </a:spcAft>
            </a:pPr>
            <a:r>
              <a:rPr sz="1050" b="1">
                <a:solidFill>
                  <a:srgbClr val="FFFFFF"/>
                </a:solidFill>
                <a:latin typeface="Calibri"/>
              </a:rPr>
              <a:t>Copernicus Data Space</a:t>
            </a:r>
          </a:p>
        </p:txBody>
      </p:sp>
      <p:sp>
        <p:nvSpPr>
          <p:cNvPr id="43" name="TextBox 42"/>
          <p:cNvSpPr txBox="1"/>
          <p:nvPr/>
        </p:nvSpPr>
        <p:spPr>
          <a:xfrm>
            <a:off x="6922008" y="3810609"/>
            <a:ext cx="4419295" cy="167944"/>
          </a:xfrm>
          <a:prstGeom prst="rect">
            <a:avLst/>
          </a:prstGeom>
          <a:noFill/>
        </p:spPr>
        <p:txBody>
          <a:bodyPr wrap="square" lIns="0" rIns="0" tIns="0" bIns="0" anchor="t">
            <a:spAutoFit/>
          </a:bodyPr>
          <a:lstStyle/>
          <a:p>
            <a:pPr algn="l">
              <a:lnSpc>
                <a:spcPct val="116000"/>
              </a:lnSpc>
              <a:spcAft>
                <a:spcPts val="0"/>
              </a:spcAft>
            </a:pPr>
            <a:r>
              <a:rPr sz="950" b="0">
                <a:solidFill>
                  <a:srgbClr val="9FB4C7"/>
                </a:solidFill>
                <a:latin typeface="Calibri"/>
              </a:rPr>
              <a:t>dataspace.copernicus.eu — Sentinel-1 (connector live)</a:t>
            </a:r>
          </a:p>
        </p:txBody>
      </p:sp>
      <p:sp>
        <p:nvSpPr>
          <p:cNvPr id="44" name="Rectangle 43"/>
          <p:cNvSpPr/>
          <p:nvPr/>
        </p:nvSpPr>
        <p:spPr>
          <a:xfrm>
            <a:off x="6720840" y="4170578"/>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22008" y="4097426"/>
            <a:ext cx="4419295" cy="219456"/>
          </a:xfrm>
          <a:prstGeom prst="rect">
            <a:avLst/>
          </a:prstGeom>
          <a:noFill/>
        </p:spPr>
        <p:txBody>
          <a:bodyPr wrap="square" lIns="0" rIns="0" tIns="0" bIns="0" anchor="t">
            <a:spAutoFit/>
          </a:bodyPr>
          <a:lstStyle/>
          <a:p>
            <a:pPr algn="l">
              <a:lnSpc>
                <a:spcPct val="116000"/>
              </a:lnSpc>
              <a:spcAft>
                <a:spcPts val="0"/>
              </a:spcAft>
            </a:pPr>
            <a:r>
              <a:rPr sz="1050" b="1">
                <a:solidFill>
                  <a:srgbClr val="FFFFFF"/>
                </a:solidFill>
                <a:latin typeface="Calibri"/>
              </a:rPr>
              <a:t>ISRO Bhuvan</a:t>
            </a:r>
          </a:p>
        </p:txBody>
      </p:sp>
      <p:sp>
        <p:nvSpPr>
          <p:cNvPr id="46" name="TextBox 45"/>
          <p:cNvSpPr txBox="1"/>
          <p:nvPr/>
        </p:nvSpPr>
        <p:spPr>
          <a:xfrm>
            <a:off x="6922008" y="4298594"/>
            <a:ext cx="4419295" cy="167944"/>
          </a:xfrm>
          <a:prstGeom prst="rect">
            <a:avLst/>
          </a:prstGeom>
          <a:noFill/>
        </p:spPr>
        <p:txBody>
          <a:bodyPr wrap="square" lIns="0" rIns="0" tIns="0" bIns="0" anchor="t">
            <a:spAutoFit/>
          </a:bodyPr>
          <a:lstStyle/>
          <a:p>
            <a:pPr algn="l">
              <a:lnSpc>
                <a:spcPct val="116000"/>
              </a:lnSpc>
              <a:spcAft>
                <a:spcPts val="0"/>
              </a:spcAft>
            </a:pPr>
            <a:r>
              <a:rPr sz="950" b="0">
                <a:solidFill>
                  <a:srgbClr val="9FB4C7"/>
                </a:solidFill>
                <a:latin typeface="Calibri"/>
              </a:rPr>
              <a:t>bhuvan.nrsc.gov.in — NRSC hazard and flood layers</a:t>
            </a:r>
          </a:p>
        </p:txBody>
      </p:sp>
      <p:sp>
        <p:nvSpPr>
          <p:cNvPr id="47" name="Rectangle 46"/>
          <p:cNvSpPr/>
          <p:nvPr/>
        </p:nvSpPr>
        <p:spPr>
          <a:xfrm>
            <a:off x="6720840" y="4658563"/>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22008" y="4585411"/>
            <a:ext cx="4419295" cy="219456"/>
          </a:xfrm>
          <a:prstGeom prst="rect">
            <a:avLst/>
          </a:prstGeom>
          <a:noFill/>
        </p:spPr>
        <p:txBody>
          <a:bodyPr wrap="square" lIns="0" rIns="0" tIns="0" bIns="0" anchor="t">
            <a:spAutoFit/>
          </a:bodyPr>
          <a:lstStyle/>
          <a:p>
            <a:pPr algn="l">
              <a:lnSpc>
                <a:spcPct val="116000"/>
              </a:lnSpc>
              <a:spcAft>
                <a:spcPts val="0"/>
              </a:spcAft>
            </a:pPr>
            <a:r>
              <a:rPr sz="1050" b="1">
                <a:solidFill>
                  <a:srgbClr val="FFFFFF"/>
                </a:solidFill>
                <a:latin typeface="Calibri"/>
              </a:rPr>
              <a:t>National Centre for Coastal Research</a:t>
            </a:r>
          </a:p>
        </p:txBody>
      </p:sp>
      <p:sp>
        <p:nvSpPr>
          <p:cNvPr id="49" name="TextBox 48"/>
          <p:cNvSpPr txBox="1"/>
          <p:nvPr/>
        </p:nvSpPr>
        <p:spPr>
          <a:xfrm>
            <a:off x="6922008" y="4786579"/>
            <a:ext cx="4419295" cy="167944"/>
          </a:xfrm>
          <a:prstGeom prst="rect">
            <a:avLst/>
          </a:prstGeom>
          <a:noFill/>
        </p:spPr>
        <p:txBody>
          <a:bodyPr wrap="square" lIns="0" rIns="0" tIns="0" bIns="0" anchor="t">
            <a:spAutoFit/>
          </a:bodyPr>
          <a:lstStyle/>
          <a:p>
            <a:pPr algn="l">
              <a:lnSpc>
                <a:spcPct val="116000"/>
              </a:lnSpc>
              <a:spcAft>
                <a:spcPts val="0"/>
              </a:spcAft>
            </a:pPr>
            <a:r>
              <a:rPr sz="950" b="0">
                <a:solidFill>
                  <a:srgbClr val="9FB4C7"/>
                </a:solidFill>
                <a:latin typeface="Calibri"/>
              </a:rPr>
              <a:t>Shoreline change rates for the Indian coast</a:t>
            </a:r>
          </a:p>
        </p:txBody>
      </p:sp>
      <p:sp>
        <p:nvSpPr>
          <p:cNvPr id="50" name="Rectangle 49"/>
          <p:cNvSpPr/>
          <p:nvPr/>
        </p:nvSpPr>
        <p:spPr>
          <a:xfrm>
            <a:off x="6720840" y="5146548"/>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922008" y="5073396"/>
            <a:ext cx="4419295" cy="219456"/>
          </a:xfrm>
          <a:prstGeom prst="rect">
            <a:avLst/>
          </a:prstGeom>
          <a:noFill/>
        </p:spPr>
        <p:txBody>
          <a:bodyPr wrap="square" lIns="0" rIns="0" tIns="0" bIns="0" anchor="t">
            <a:spAutoFit/>
          </a:bodyPr>
          <a:lstStyle/>
          <a:p>
            <a:pPr algn="l">
              <a:lnSpc>
                <a:spcPct val="116000"/>
              </a:lnSpc>
              <a:spcAft>
                <a:spcPts val="0"/>
              </a:spcAft>
            </a:pPr>
            <a:r>
              <a:rPr sz="1050" b="1">
                <a:solidFill>
                  <a:srgbClr val="FFFFFF"/>
                </a:solidFill>
                <a:latin typeface="Calibri"/>
              </a:rPr>
              <a:t>Census of India / WorldPop</a:t>
            </a:r>
          </a:p>
        </p:txBody>
      </p:sp>
      <p:sp>
        <p:nvSpPr>
          <p:cNvPr id="52" name="TextBox 51"/>
          <p:cNvSpPr txBox="1"/>
          <p:nvPr/>
        </p:nvSpPr>
        <p:spPr>
          <a:xfrm>
            <a:off x="6922008" y="5274564"/>
            <a:ext cx="4419295" cy="167944"/>
          </a:xfrm>
          <a:prstGeom prst="rect">
            <a:avLst/>
          </a:prstGeom>
          <a:noFill/>
        </p:spPr>
        <p:txBody>
          <a:bodyPr wrap="square" lIns="0" rIns="0" tIns="0" bIns="0" anchor="t">
            <a:spAutoFit/>
          </a:bodyPr>
          <a:lstStyle/>
          <a:p>
            <a:pPr algn="l">
              <a:lnSpc>
                <a:spcPct val="116000"/>
              </a:lnSpc>
              <a:spcAft>
                <a:spcPts val="0"/>
              </a:spcAft>
            </a:pPr>
            <a:r>
              <a:rPr sz="950" b="0">
                <a:solidFill>
                  <a:srgbClr val="9FB4C7"/>
                </a:solidFill>
                <a:latin typeface="Calibri"/>
              </a:rPr>
              <a:t>Habitation population and settlement distribution</a:t>
            </a:r>
          </a:p>
        </p:txBody>
      </p:sp>
      <p:sp>
        <p:nvSpPr>
          <p:cNvPr id="53" name="Rectangle 52"/>
          <p:cNvSpPr/>
          <p:nvPr/>
        </p:nvSpPr>
        <p:spPr>
          <a:xfrm>
            <a:off x="6720840" y="5634532"/>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922008" y="5561380"/>
            <a:ext cx="4419295" cy="219456"/>
          </a:xfrm>
          <a:prstGeom prst="rect">
            <a:avLst/>
          </a:prstGeom>
          <a:noFill/>
        </p:spPr>
        <p:txBody>
          <a:bodyPr wrap="square" lIns="0" rIns="0" tIns="0" bIns="0" anchor="t">
            <a:spAutoFit/>
          </a:bodyPr>
          <a:lstStyle/>
          <a:p>
            <a:pPr algn="l">
              <a:lnSpc>
                <a:spcPct val="116000"/>
              </a:lnSpc>
              <a:spcAft>
                <a:spcPts val="0"/>
              </a:spcAft>
            </a:pPr>
            <a:r>
              <a:rPr sz="1050" b="1">
                <a:solidFill>
                  <a:srgbClr val="FFFFFF"/>
                </a:solidFill>
                <a:latin typeface="Calibri"/>
              </a:rPr>
              <a:t>India Meteorological Department</a:t>
            </a:r>
          </a:p>
        </p:txBody>
      </p:sp>
      <p:sp>
        <p:nvSpPr>
          <p:cNvPr id="55" name="TextBox 54"/>
          <p:cNvSpPr txBox="1"/>
          <p:nvPr/>
        </p:nvSpPr>
        <p:spPr>
          <a:xfrm>
            <a:off x="6922008" y="5762548"/>
            <a:ext cx="4419295" cy="167944"/>
          </a:xfrm>
          <a:prstGeom prst="rect">
            <a:avLst/>
          </a:prstGeom>
          <a:noFill/>
        </p:spPr>
        <p:txBody>
          <a:bodyPr wrap="square" lIns="0" rIns="0" tIns="0" bIns="0" anchor="t">
            <a:spAutoFit/>
          </a:bodyPr>
          <a:lstStyle/>
          <a:p>
            <a:pPr algn="l">
              <a:lnSpc>
                <a:spcPct val="116000"/>
              </a:lnSpc>
              <a:spcAft>
                <a:spcPts val="0"/>
              </a:spcAft>
            </a:pPr>
            <a:r>
              <a:rPr sz="950" b="0">
                <a:solidFill>
                  <a:srgbClr val="9FB4C7"/>
                </a:solidFill>
                <a:latin typeface="Calibri"/>
              </a:rPr>
              <a:t>Rainfall normals and extreme-value statistics</a:t>
            </a:r>
          </a:p>
        </p:txBody>
      </p:sp>
      <p:sp>
        <p:nvSpPr>
          <p:cNvPr id="56" name="Rectangle 55"/>
          <p:cNvSpPr/>
          <p:nvPr/>
        </p:nvSpPr>
        <p:spPr>
          <a:xfrm>
            <a:off x="6720840" y="6122517"/>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922008" y="6049365"/>
            <a:ext cx="4419295" cy="219456"/>
          </a:xfrm>
          <a:prstGeom prst="rect">
            <a:avLst/>
          </a:prstGeom>
          <a:noFill/>
        </p:spPr>
        <p:txBody>
          <a:bodyPr wrap="square" lIns="0" rIns="0" tIns="0" bIns="0" anchor="t">
            <a:spAutoFit/>
          </a:bodyPr>
          <a:lstStyle/>
          <a:p>
            <a:pPr algn="l">
              <a:lnSpc>
                <a:spcPct val="116000"/>
              </a:lnSpc>
              <a:spcAft>
                <a:spcPts val="0"/>
              </a:spcAft>
            </a:pPr>
            <a:r>
              <a:rPr sz="1050" b="1">
                <a:solidFill>
                  <a:srgbClr val="FFFFFF"/>
                </a:solidFill>
                <a:latin typeface="Calibri"/>
              </a:rPr>
              <a:t>Survey of India / LGD</a:t>
            </a:r>
          </a:p>
        </p:txBody>
      </p:sp>
      <p:sp>
        <p:nvSpPr>
          <p:cNvPr id="58" name="TextBox 57"/>
          <p:cNvSpPr txBox="1"/>
          <p:nvPr/>
        </p:nvSpPr>
        <p:spPr>
          <a:xfrm>
            <a:off x="6922008" y="6250533"/>
            <a:ext cx="4419295" cy="167944"/>
          </a:xfrm>
          <a:prstGeom prst="rect">
            <a:avLst/>
          </a:prstGeom>
          <a:noFill/>
        </p:spPr>
        <p:txBody>
          <a:bodyPr wrap="square" lIns="0" rIns="0" tIns="0" bIns="0" anchor="t">
            <a:spAutoFit/>
          </a:bodyPr>
          <a:lstStyle/>
          <a:p>
            <a:pPr algn="l">
              <a:lnSpc>
                <a:spcPct val="116000"/>
              </a:lnSpc>
              <a:spcAft>
                <a:spcPts val="0"/>
              </a:spcAft>
            </a:pPr>
            <a:r>
              <a:rPr sz="950" b="0">
                <a:solidFill>
                  <a:srgbClr val="9FB4C7"/>
                </a:solidFill>
                <a:latin typeface="Calibri"/>
              </a:rPr>
              <a:t>District and habitation boundaries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